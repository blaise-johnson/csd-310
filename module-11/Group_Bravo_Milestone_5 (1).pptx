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2" r:id="rId7"/>
    <p:sldId id="263" r:id="rId8"/>
    <p:sldId id="270"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2" d="100"/>
          <a:sy n="102" d="100"/>
        </p:scale>
        <p:origin x="1308"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5C1DD6-EC41-4A98-AB05-A124F5E91E59}" type="datetimeFigureOut">
              <a:t>8/2/2026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C46C5A-BCBF-4437-810F-D0028B7F1A24}" type="slidenum">
              <a:t>‹#›</a:t>
            </a:fld>
            <a:endParaRPr lang="en-US"/>
          </a:p>
        </p:txBody>
      </p:sp>
    </p:spTree>
    <p:extLst>
      <p:ext uri="{BB962C8B-B14F-4D97-AF65-F5344CB8AC3E}">
        <p14:creationId xmlns:p14="http://schemas.microsoft.com/office/powerpoint/2010/main" val="2206146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everyone. We are Group Bravo. This presentation covers our final database solution for Willson Financial, including the case study, final ERD, business rules, reports, report examples, assumptions, and overall project results.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group worked through the project in stages. We first identified the data the company needed, created the relationships, built the database, and then developed reports that use the stored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main problem was organizing several types of information that are connected to the same clients. Our solution uses a relational database so the company can store that information without putting everything into one large table.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rules guided our table relationships. They helped us decide where foreign keys belonged and which relationships were one-to-many.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We chose this layout for our ERD because each table stores one type of information. The Employee table manages clients, while each client can have multiple assets, appointments, and billing records. Assets are connected to transaction records, allowing us to track activity without storing the same data multiple times. Primary and foreign keys link the tables together and maintain data integrity.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We chose this report because one of the case study questions asks how many clients were added in each of the past six months. It counts new clients by signup month, so the business can see how the client base is growing and gauge the results of its marketing efforts.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We chose this report because the case study asks for the average amount of assets across the entire client list. It totals each client's assets, ranks them, and averages those totals, so advisors can see the typical portfolio size and identify the highest-value clients.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53082-E807-BF84-BB99-55E89F017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6DDBE0-2F37-506F-F054-CAFC58B4F3F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62FDF5C-2F2A-B6CF-5D30-C20A4AB5F38A}"/>
              </a:ext>
            </a:extLst>
          </p:cNvPr>
          <p:cNvSpPr>
            <a:spLocks noGrp="1"/>
          </p:cNvSpPr>
          <p:nvPr>
            <p:ph type="body" sz="quarter" idx="3"/>
          </p:nvPr>
        </p:nvSpPr>
        <p:spPr/>
        <p:txBody>
          <a:bodyPr/>
          <a:lstStyle/>
          <a:p>
            <a:pPr rtl="0"/>
            <a:r>
              <a:rPr lang="en-US" dirty="0"/>
              <a:t>This report answers the third case study question. It counts each client's transactions per month and flags anyone above ten. Carl Young and Alan Cooper both cross that line in July, which are exactly the kind of high-activity accounts Jake and Ned would examine when deciding whether to change the billing structure.</a:t>
            </a:r>
          </a:p>
        </p:txBody>
      </p:sp>
      <p:sp>
        <p:nvSpPr>
          <p:cNvPr id="4" name="Slide Number Placeholder 3">
            <a:extLst>
              <a:ext uri="{FF2B5EF4-FFF2-40B4-BE49-F238E27FC236}">
                <a16:creationId xmlns:a16="http://schemas.microsoft.com/office/drawing/2014/main" id="{5BB33F99-F205-9AEC-1C4D-B91FF0E7F92C}"/>
              </a:ext>
            </a:extLst>
          </p:cNvPr>
          <p:cNvSpPr>
            <a:spLocks noGrp="1"/>
          </p:cNvSpPr>
          <p:nvPr>
            <p:ph type="sldNum" sz="quarter" idx="5"/>
          </p:nvPr>
        </p:nvSpPr>
        <p:spPr/>
      </p:sp>
    </p:spTree>
    <p:extLst>
      <p:ext uri="{BB962C8B-B14F-4D97-AF65-F5344CB8AC3E}">
        <p14:creationId xmlns:p14="http://schemas.microsoft.com/office/powerpoint/2010/main" val="2583502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We chose this report because tracking billing status was one of the project's goals. It shows each client's billing information, including the amount, date, and payment status. This allows the company to quickly identify unpaid balances, follow up with clients, and keep billing records organized.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selected reports that represent different business needs instead of three reports that all answer the same type of question.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case study left some details open, so we made reasonable assumptions to complete the design. These assumptions kept the relationships consistent and allowed us to create useful reports.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was not only an ERD. We used MySQL for the database, SQL for retrieving the information, and Python for displaying the reports.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Overall, the project brought together the database concepts from the course. We went from business requirements to an ERD, a working database, and reports that show how the information can be used.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our team took the Willson Financial project from the initial database design to a working solution. We created the table relationships, built and tested the database in MySQL, and developed reports using SQL and Python. The final result is an organized database that supports the company's main information needs and can be expanded in the future.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1E375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3" name="TextBox 2"/>
          <p:cNvSpPr txBox="1"/>
          <p:nvPr/>
        </p:nvSpPr>
        <p:spPr>
          <a:xfrm>
            <a:off x="822960" y="1234440"/>
            <a:ext cx="10515600" cy="1005840"/>
          </a:xfrm>
          <a:prstGeom prst="rect">
            <a:avLst/>
          </a:prstGeom>
          <a:noFill/>
        </p:spPr>
        <p:txBody>
          <a:bodyPr wrap="square" lIns="73152" rIns="73152">
            <a:spAutoFit/>
          </a:bodyPr>
          <a:lstStyle/>
          <a:p>
            <a:pPr algn="ctr">
              <a:defRPr sz="3500" b="1">
                <a:solidFill>
                  <a:srgbClr val="1E3750"/>
                </a:solidFill>
              </a:defRPr>
            </a:pPr>
            <a:r>
              <a:t>Willson Financial Database Solution</a:t>
            </a:r>
          </a:p>
        </p:txBody>
      </p:sp>
      <p:sp>
        <p:nvSpPr>
          <p:cNvPr id="4" name="TextBox 3"/>
          <p:cNvSpPr txBox="1"/>
          <p:nvPr/>
        </p:nvSpPr>
        <p:spPr>
          <a:xfrm>
            <a:off x="1280160" y="2560320"/>
            <a:ext cx="9601200" cy="1323439"/>
          </a:xfrm>
          <a:prstGeom prst="rect">
            <a:avLst/>
          </a:prstGeom>
          <a:noFill/>
        </p:spPr>
        <p:txBody>
          <a:bodyPr wrap="square" lIns="73152" rIns="73152">
            <a:spAutoFit/>
          </a:bodyPr>
          <a:lstStyle/>
          <a:p>
            <a:pPr algn="ctr">
              <a:defRPr sz="2000">
                <a:solidFill>
                  <a:srgbClr val="262A2E"/>
                </a:solidFill>
              </a:defRPr>
            </a:pPr>
            <a:r>
              <a:rPr sz="1600" dirty="0"/>
              <a:t>CSD-310 Database Development and Use</a:t>
            </a:r>
          </a:p>
          <a:p>
            <a:pPr algn="ctr">
              <a:defRPr sz="2000">
                <a:solidFill>
                  <a:srgbClr val="262A2E"/>
                </a:solidFill>
              </a:defRPr>
            </a:pPr>
            <a:r>
              <a:rPr sz="1600" dirty="0"/>
              <a:t>Milestone #</a:t>
            </a:r>
            <a:r>
              <a:rPr lang="en-US" sz="1600" dirty="0"/>
              <a:t>5</a:t>
            </a:r>
            <a:r>
              <a:rPr sz="1600" dirty="0"/>
              <a:t> – </a:t>
            </a:r>
            <a:r>
              <a:rPr lang="en-US" sz="1600" dirty="0"/>
              <a:t>Revised Case Study Presentation</a:t>
            </a:r>
            <a:endParaRPr sz="1600" dirty="0"/>
          </a:p>
          <a:p>
            <a:pPr algn="ctr">
              <a:defRPr sz="1800">
                <a:solidFill>
                  <a:srgbClr val="262A2E"/>
                </a:solidFill>
              </a:defRPr>
            </a:pPr>
            <a:endParaRPr sz="1600" dirty="0"/>
          </a:p>
          <a:p>
            <a:pPr algn="ctr">
              <a:defRPr sz="1800">
                <a:solidFill>
                  <a:srgbClr val="262A2E"/>
                </a:solidFill>
              </a:defRPr>
            </a:pPr>
            <a:r>
              <a:rPr sz="1600" dirty="0"/>
              <a:t>Group Bravo</a:t>
            </a:r>
          </a:p>
          <a:p>
            <a:pPr algn="ctr">
              <a:defRPr sz="1800">
                <a:solidFill>
                  <a:srgbClr val="262A2E"/>
                </a:solidFill>
              </a:defRPr>
            </a:pPr>
            <a:r>
              <a:rPr sz="1600" dirty="0"/>
              <a:t>Justin Bradley • Natalia Carbajal • Blaise Johnson • Luis Rodriguez</a:t>
            </a:r>
          </a:p>
        </p:txBody>
      </p:sp>
      <p:sp>
        <p:nvSpPr>
          <p:cNvPr id="5" name="Rectangle 4"/>
          <p:cNvSpPr/>
          <p:nvPr/>
        </p:nvSpPr>
        <p:spPr>
          <a:xfrm>
            <a:off x="0" y="201168"/>
            <a:ext cx="292608" cy="6656832"/>
          </a:xfrm>
          <a:prstGeom prst="rect">
            <a:avLst/>
          </a:prstGeom>
          <a:solidFill>
            <a:srgbClr val="4389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98480" y="5303520"/>
            <a:ext cx="594360" cy="594360"/>
          </a:xfrm>
          <a:prstGeom prst="ellipse">
            <a:avLst/>
          </a:prstGeom>
          <a:solidFill>
            <a:srgbClr val="457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109960" y="4800600"/>
            <a:ext cx="347472" cy="347472"/>
          </a:xfrm>
          <a:prstGeom prst="ellipse">
            <a:avLst/>
          </a:prstGeom>
          <a:solidFill>
            <a:srgbClr val="C9A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378440" y="4709160"/>
            <a:ext cx="256032" cy="256032"/>
          </a:xfrm>
          <a:prstGeom prst="ellipse">
            <a:avLst/>
          </a:prstGeom>
          <a:solidFill>
            <a:srgbClr val="4389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94702" y="4983480"/>
            <a:ext cx="1172116" cy="338554"/>
          </a:xfrm>
          <a:prstGeom prst="rect">
            <a:avLst/>
          </a:prstGeom>
          <a:noFill/>
        </p:spPr>
        <p:txBody>
          <a:bodyPr wrap="none">
            <a:spAutoFit/>
          </a:bodyPr>
          <a:lstStyle/>
          <a:p>
            <a:pPr algn="ctr">
              <a:defRPr sz="1600">
                <a:solidFill>
                  <a:srgbClr val="464B50"/>
                </a:solidFill>
              </a:defRPr>
            </a:pPr>
            <a:r>
              <a:rPr lang="en-US" dirty="0"/>
              <a:t>Aug</a:t>
            </a:r>
            <a:r>
              <a:rPr dirty="0"/>
              <a:t> 2, 2026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E375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3" name="TextBox 2"/>
          <p:cNvSpPr txBox="1"/>
          <p:nvPr/>
        </p:nvSpPr>
        <p:spPr>
          <a:xfrm>
            <a:off x="594360" y="393192"/>
            <a:ext cx="10789920" cy="502920"/>
          </a:xfrm>
          <a:prstGeom prst="rect">
            <a:avLst/>
          </a:prstGeom>
          <a:noFill/>
        </p:spPr>
        <p:txBody>
          <a:bodyPr wrap="square" lIns="73152" rIns="73152">
            <a:spAutoFit/>
          </a:bodyPr>
          <a:lstStyle/>
          <a:p>
            <a:pPr>
              <a:defRPr sz="2700" b="1">
                <a:solidFill>
                  <a:srgbClr val="1E3750"/>
                </a:solidFill>
              </a:defRPr>
            </a:pPr>
            <a:r>
              <a:t>Group Introduction</a:t>
            </a:r>
          </a:p>
        </p:txBody>
      </p:sp>
      <p:sp>
        <p:nvSpPr>
          <p:cNvPr id="4" name="Rectangle 3"/>
          <p:cNvSpPr/>
          <p:nvPr/>
        </p:nvSpPr>
        <p:spPr>
          <a:xfrm>
            <a:off x="603504" y="969264"/>
            <a:ext cx="1097280" cy="36576"/>
          </a:xfrm>
          <a:prstGeom prst="rect">
            <a:avLst/>
          </a:prstGeom>
          <a:solidFill>
            <a:srgbClr val="B99752"/>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5" name="TextBox 4"/>
          <p:cNvSpPr txBox="1"/>
          <p:nvPr/>
        </p:nvSpPr>
        <p:spPr>
          <a:xfrm>
            <a:off x="10972800" y="6510528"/>
            <a:ext cx="457200" cy="182880"/>
          </a:xfrm>
          <a:prstGeom prst="rect">
            <a:avLst/>
          </a:prstGeom>
          <a:noFill/>
        </p:spPr>
        <p:txBody>
          <a:bodyPr wrap="square" lIns="73152" rIns="73152">
            <a:spAutoFit/>
          </a:bodyPr>
          <a:lstStyle/>
          <a:p>
            <a:pPr>
              <a:defRPr sz="900">
                <a:solidFill>
                  <a:srgbClr val="5F6973"/>
                </a:solidFill>
              </a:defRPr>
            </a:pPr>
            <a:r>
              <a:t>2</a:t>
            </a:r>
          </a:p>
        </p:txBody>
      </p:sp>
      <p:sp>
        <p:nvSpPr>
          <p:cNvPr id="14" name="TextBox 13"/>
          <p:cNvSpPr txBox="1"/>
          <p:nvPr/>
        </p:nvSpPr>
        <p:spPr>
          <a:xfrm>
            <a:off x="914400" y="2743200"/>
            <a:ext cx="10241280" cy="2468880"/>
          </a:xfrm>
          <a:prstGeom prst="rect">
            <a:avLst/>
          </a:prstGeom>
          <a:noFill/>
        </p:spPr>
        <p:txBody>
          <a:bodyPr wrap="square" lIns="73152" rIns="73152">
            <a:spAutoFit/>
          </a:bodyPr>
          <a:lstStyle/>
          <a:p>
            <a:pPr>
              <a:spcAft>
                <a:spcPts val="900"/>
              </a:spcAft>
              <a:defRPr sz="2000">
                <a:solidFill>
                  <a:srgbClr val="262A2E"/>
                </a:solidFill>
              </a:defRPr>
            </a:pPr>
            <a:r>
              <a:rPr sz="1500"/>
              <a:t>The project combined database design, MySQL, SQL reporting, and Python.</a:t>
            </a:r>
          </a:p>
          <a:p>
            <a:pPr>
              <a:spcAft>
                <a:spcPts val="900"/>
              </a:spcAft>
              <a:defRPr sz="2000">
                <a:solidFill>
                  <a:srgbClr val="262A2E"/>
                </a:solidFill>
              </a:defRPr>
            </a:pPr>
            <a:r>
              <a:rPr sz="1500"/>
              <a:t>Our final solution focuses on keeping client information organized and making important business information easier to retrieve.</a:t>
            </a:r>
          </a:p>
        </p:txBody>
      </p:sp>
      <p:sp>
        <p:nvSpPr>
          <p:cNvPr id="15" name="TextBox 14"/>
          <p:cNvSpPr txBox="1"/>
          <p:nvPr/>
        </p:nvSpPr>
        <p:spPr>
          <a:xfrm>
            <a:off x="914400" y="1417320"/>
            <a:ext cx="10241280" cy="1051560"/>
          </a:xfrm>
          <a:prstGeom prst="rect">
            <a:avLst/>
          </a:prstGeom>
          <a:noFill/>
        </p:spPr>
        <p:txBody>
          <a:bodyPr wrap="square" lIns="73152" rIns="73152">
            <a:spAutoFit/>
          </a:bodyPr>
          <a:lstStyle/>
          <a:p>
            <a:pPr>
              <a:defRPr sz="2200" b="1"/>
            </a:pPr>
            <a:r>
              <a:rPr sz="1700"/>
              <a:t>Group Bravo worked together to design, build, and test a relational database solution for Willson Financial.</a:t>
            </a:r>
          </a:p>
        </p:txBody>
      </p:sp>
      <p:sp>
        <p:nvSpPr>
          <p:cNvPr id="16" name="Rectangle 15"/>
          <p:cNvSpPr/>
          <p:nvPr/>
        </p:nvSpPr>
        <p:spPr>
          <a:xfrm>
            <a:off x="0" y="182880"/>
            <a:ext cx="109728" cy="6675120"/>
          </a:xfrm>
          <a:prstGeom prst="rect">
            <a:avLst/>
          </a:prstGeom>
          <a:solidFill>
            <a:srgbClr val="C9A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E375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3" name="TextBox 2"/>
          <p:cNvSpPr txBox="1"/>
          <p:nvPr/>
        </p:nvSpPr>
        <p:spPr>
          <a:xfrm>
            <a:off x="594360" y="393192"/>
            <a:ext cx="10789920" cy="502920"/>
          </a:xfrm>
          <a:prstGeom prst="rect">
            <a:avLst/>
          </a:prstGeom>
          <a:noFill/>
        </p:spPr>
        <p:txBody>
          <a:bodyPr wrap="square" lIns="73152" rIns="73152">
            <a:spAutoFit/>
          </a:bodyPr>
          <a:lstStyle/>
          <a:p>
            <a:pPr>
              <a:defRPr sz="2700" b="1">
                <a:solidFill>
                  <a:srgbClr val="1E3750"/>
                </a:solidFill>
              </a:defRPr>
            </a:pPr>
            <a:r>
              <a:t>Case Study Overview</a:t>
            </a:r>
          </a:p>
        </p:txBody>
      </p:sp>
      <p:sp>
        <p:nvSpPr>
          <p:cNvPr id="4" name="Rectangle 3"/>
          <p:cNvSpPr/>
          <p:nvPr/>
        </p:nvSpPr>
        <p:spPr>
          <a:xfrm>
            <a:off x="603504" y="969264"/>
            <a:ext cx="1097280" cy="36576"/>
          </a:xfrm>
          <a:prstGeom prst="rect">
            <a:avLst/>
          </a:prstGeom>
          <a:solidFill>
            <a:srgbClr val="B99752"/>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5" name="TextBox 4"/>
          <p:cNvSpPr txBox="1"/>
          <p:nvPr/>
        </p:nvSpPr>
        <p:spPr>
          <a:xfrm>
            <a:off x="10972800" y="6510528"/>
            <a:ext cx="457200" cy="182880"/>
          </a:xfrm>
          <a:prstGeom prst="rect">
            <a:avLst/>
          </a:prstGeom>
          <a:noFill/>
        </p:spPr>
        <p:txBody>
          <a:bodyPr wrap="square" lIns="73152" rIns="73152">
            <a:spAutoFit/>
          </a:bodyPr>
          <a:lstStyle/>
          <a:p>
            <a:pPr>
              <a:defRPr sz="900">
                <a:solidFill>
                  <a:srgbClr val="5F6973"/>
                </a:solidFill>
              </a:defRPr>
            </a:pPr>
            <a:r>
              <a:t>3</a:t>
            </a:r>
          </a:p>
        </p:txBody>
      </p:sp>
      <p:sp>
        <p:nvSpPr>
          <p:cNvPr id="6" name="TextBox 5"/>
          <p:cNvSpPr txBox="1"/>
          <p:nvPr/>
        </p:nvSpPr>
        <p:spPr>
          <a:xfrm>
            <a:off x="777240" y="1325880"/>
            <a:ext cx="5669280" cy="4480560"/>
          </a:xfrm>
          <a:prstGeom prst="rect">
            <a:avLst/>
          </a:prstGeom>
          <a:noFill/>
        </p:spPr>
        <p:txBody>
          <a:bodyPr wrap="square" lIns="73152" rIns="73152">
            <a:spAutoFit/>
          </a:bodyPr>
          <a:lstStyle/>
          <a:p>
            <a:pPr>
              <a:spcAft>
                <a:spcPts val="900"/>
              </a:spcAft>
              <a:defRPr sz="2000">
                <a:solidFill>
                  <a:srgbClr val="262A2E"/>
                </a:solidFill>
              </a:defRPr>
            </a:pPr>
            <a:r>
              <a:rPr sz="1500"/>
              <a:t>Willson Financial needs to manage information about clients and the employees who work with them.</a:t>
            </a:r>
          </a:p>
          <a:p>
            <a:pPr>
              <a:spcAft>
                <a:spcPts val="900"/>
              </a:spcAft>
              <a:defRPr sz="2000">
                <a:solidFill>
                  <a:srgbClr val="262A2E"/>
                </a:solidFill>
              </a:defRPr>
            </a:pPr>
            <a:r>
              <a:rPr sz="1500"/>
              <a:t>The company also needs to track client assets, financial transactions, appointments, and billing.</a:t>
            </a:r>
          </a:p>
          <a:p>
            <a:pPr>
              <a:spcAft>
                <a:spcPts val="900"/>
              </a:spcAft>
              <a:defRPr sz="2000">
                <a:solidFill>
                  <a:srgbClr val="262A2E"/>
                </a:solidFill>
              </a:defRPr>
            </a:pPr>
            <a:r>
              <a:rPr sz="1500"/>
              <a:t>Keeping this information in related tables reduces repeated data and gives employees one organized source of information.</a:t>
            </a:r>
          </a:p>
          <a:p>
            <a:pPr>
              <a:spcAft>
                <a:spcPts val="900"/>
              </a:spcAft>
              <a:defRPr sz="2000">
                <a:solidFill>
                  <a:srgbClr val="262A2E"/>
                </a:solidFill>
              </a:defRPr>
            </a:pPr>
            <a:r>
              <a:rPr sz="1500"/>
              <a:t>The database also needs to support reports that can be used for client service and normal business operations.</a:t>
            </a:r>
          </a:p>
        </p:txBody>
      </p:sp>
      <p:sp>
        <p:nvSpPr>
          <p:cNvPr id="7" name="Rounded Rectangle 6"/>
          <p:cNvSpPr/>
          <p:nvPr/>
        </p:nvSpPr>
        <p:spPr>
          <a:xfrm>
            <a:off x="6903720" y="1600200"/>
            <a:ext cx="4389120" cy="1828800"/>
          </a:xfrm>
          <a:prstGeom prst="roundRect">
            <a:avLst/>
          </a:prstGeom>
          <a:solidFill>
            <a:srgbClr val="E8F1F8"/>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8" name="TextBox 7"/>
          <p:cNvSpPr txBox="1"/>
          <p:nvPr/>
        </p:nvSpPr>
        <p:spPr>
          <a:xfrm>
            <a:off x="7068312" y="1728216"/>
            <a:ext cx="4059935" cy="1572768"/>
          </a:xfrm>
          <a:prstGeom prst="rect">
            <a:avLst/>
          </a:prstGeom>
          <a:noFill/>
        </p:spPr>
        <p:txBody>
          <a:bodyPr wrap="square" lIns="73152" rIns="73152">
            <a:spAutoFit/>
          </a:bodyPr>
          <a:lstStyle/>
          <a:p>
            <a:pPr>
              <a:defRPr sz="1700" b="1">
                <a:solidFill>
                  <a:srgbClr val="1E3750"/>
                </a:solidFill>
              </a:defRPr>
            </a:pPr>
            <a:r>
              <a:rPr sz="1600"/>
              <a:t>Project Objective</a:t>
            </a:r>
          </a:p>
          <a:p>
            <a:pPr>
              <a:defRPr sz="1400">
                <a:solidFill>
                  <a:srgbClr val="262A2E"/>
                </a:solidFill>
              </a:defRPr>
            </a:pPr>
            <a:r>
              <a:rPr sz="1600"/>
              <a:t>Create a relational database that organizes the company's information, maintains useful relationships between records, and supports simple business reports.</a:t>
            </a:r>
          </a:p>
        </p:txBody>
      </p:sp>
      <p:sp>
        <p:nvSpPr>
          <p:cNvPr id="9" name="Rounded Rectangle 8"/>
          <p:cNvSpPr/>
          <p:nvPr/>
        </p:nvSpPr>
        <p:spPr>
          <a:xfrm>
            <a:off x="6903720" y="3703320"/>
            <a:ext cx="4389120" cy="1371600"/>
          </a:xfrm>
          <a:prstGeom prst="roundRect">
            <a:avLst/>
          </a:prstGeom>
          <a:solidFill>
            <a:srgbClr val="E8F1F8"/>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10" name="TextBox 9"/>
          <p:cNvSpPr txBox="1"/>
          <p:nvPr/>
        </p:nvSpPr>
        <p:spPr>
          <a:xfrm>
            <a:off x="7068312" y="3831335"/>
            <a:ext cx="4059935" cy="1115568"/>
          </a:xfrm>
          <a:prstGeom prst="rect">
            <a:avLst/>
          </a:prstGeom>
          <a:noFill/>
        </p:spPr>
        <p:txBody>
          <a:bodyPr wrap="square" lIns="73152" rIns="73152">
            <a:spAutoFit/>
          </a:bodyPr>
          <a:lstStyle/>
          <a:p>
            <a:pPr>
              <a:defRPr sz="1700" b="1">
                <a:solidFill>
                  <a:srgbClr val="1E3750"/>
                </a:solidFill>
              </a:defRPr>
            </a:pPr>
            <a:r>
              <a:t>Main Areas</a:t>
            </a:r>
          </a:p>
          <a:p>
            <a:pPr>
              <a:defRPr sz="1400">
                <a:solidFill>
                  <a:srgbClr val="262A2E"/>
                </a:solidFill>
              </a:defRPr>
            </a:pPr>
            <a:r>
              <a:t>Employees • Clients • Assets • Transactions • Appointments • Billing</a:t>
            </a:r>
          </a:p>
        </p:txBody>
      </p:sp>
      <p:sp>
        <p:nvSpPr>
          <p:cNvPr id="11" name="Rectangle 10"/>
          <p:cNvSpPr/>
          <p:nvPr/>
        </p:nvSpPr>
        <p:spPr>
          <a:xfrm>
            <a:off x="0" y="182880"/>
            <a:ext cx="109728" cy="6675120"/>
          </a:xfrm>
          <a:prstGeom prst="rect">
            <a:avLst/>
          </a:prstGeom>
          <a:solidFill>
            <a:srgbClr val="4389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E375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3" name="TextBox 2"/>
          <p:cNvSpPr txBox="1"/>
          <p:nvPr/>
        </p:nvSpPr>
        <p:spPr>
          <a:xfrm>
            <a:off x="594360" y="393192"/>
            <a:ext cx="10789920" cy="502920"/>
          </a:xfrm>
          <a:prstGeom prst="rect">
            <a:avLst/>
          </a:prstGeom>
          <a:noFill/>
        </p:spPr>
        <p:txBody>
          <a:bodyPr wrap="square" lIns="73152" rIns="73152">
            <a:spAutoFit/>
          </a:bodyPr>
          <a:lstStyle/>
          <a:p>
            <a:pPr>
              <a:defRPr sz="2700" b="1">
                <a:solidFill>
                  <a:srgbClr val="1E3750"/>
                </a:solidFill>
              </a:defRPr>
            </a:pPr>
            <a:r>
              <a:t>Business Rules</a:t>
            </a:r>
          </a:p>
        </p:txBody>
      </p:sp>
      <p:sp>
        <p:nvSpPr>
          <p:cNvPr id="4" name="Rectangle 3"/>
          <p:cNvSpPr/>
          <p:nvPr/>
        </p:nvSpPr>
        <p:spPr>
          <a:xfrm>
            <a:off x="603504" y="969264"/>
            <a:ext cx="1097280" cy="36576"/>
          </a:xfrm>
          <a:prstGeom prst="rect">
            <a:avLst/>
          </a:prstGeom>
          <a:solidFill>
            <a:srgbClr val="B99752"/>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5" name="TextBox 4"/>
          <p:cNvSpPr txBox="1"/>
          <p:nvPr/>
        </p:nvSpPr>
        <p:spPr>
          <a:xfrm>
            <a:off x="10972800" y="6510528"/>
            <a:ext cx="457200" cy="182880"/>
          </a:xfrm>
          <a:prstGeom prst="rect">
            <a:avLst/>
          </a:prstGeom>
          <a:noFill/>
        </p:spPr>
        <p:txBody>
          <a:bodyPr wrap="square" lIns="73152" rIns="73152">
            <a:spAutoFit/>
          </a:bodyPr>
          <a:lstStyle/>
          <a:p>
            <a:pPr>
              <a:defRPr sz="900">
                <a:solidFill>
                  <a:srgbClr val="5F6973"/>
                </a:solidFill>
              </a:defRPr>
            </a:pPr>
            <a:r>
              <a:t>4</a:t>
            </a:r>
          </a:p>
        </p:txBody>
      </p:sp>
      <p:sp>
        <p:nvSpPr>
          <p:cNvPr id="6" name="Rounded Rectangle 5"/>
          <p:cNvSpPr/>
          <p:nvPr/>
        </p:nvSpPr>
        <p:spPr>
          <a:xfrm>
            <a:off x="731520" y="1325880"/>
            <a:ext cx="3474720" cy="1417320"/>
          </a:xfrm>
          <a:prstGeom prst="roundRect">
            <a:avLst/>
          </a:prstGeom>
          <a:solidFill>
            <a:srgbClr val="E8F4F2"/>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7" name="TextBox 6"/>
          <p:cNvSpPr txBox="1"/>
          <p:nvPr/>
        </p:nvSpPr>
        <p:spPr>
          <a:xfrm>
            <a:off x="896112" y="1453895"/>
            <a:ext cx="3145536" cy="1161288"/>
          </a:xfrm>
          <a:prstGeom prst="rect">
            <a:avLst/>
          </a:prstGeom>
          <a:noFill/>
        </p:spPr>
        <p:txBody>
          <a:bodyPr wrap="square" lIns="73152" rIns="73152">
            <a:spAutoFit/>
          </a:bodyPr>
          <a:lstStyle/>
          <a:p>
            <a:pPr>
              <a:defRPr sz="1700" b="1">
                <a:solidFill>
                  <a:srgbClr val="1E3750"/>
                </a:solidFill>
              </a:defRPr>
            </a:pPr>
            <a:r>
              <a:rPr sz="1600"/>
              <a:t>Employee &amp; Client</a:t>
            </a:r>
          </a:p>
          <a:p>
            <a:pPr>
              <a:defRPr sz="1400">
                <a:solidFill>
                  <a:srgbClr val="262A2E"/>
                </a:solidFill>
              </a:defRPr>
            </a:pPr>
            <a:r>
              <a:rPr sz="1600"/>
              <a:t>One employee can manage multiple clients. Each client is assigned to an employee.</a:t>
            </a:r>
          </a:p>
        </p:txBody>
      </p:sp>
      <p:sp>
        <p:nvSpPr>
          <p:cNvPr id="8" name="Rounded Rectangle 7"/>
          <p:cNvSpPr/>
          <p:nvPr/>
        </p:nvSpPr>
        <p:spPr>
          <a:xfrm>
            <a:off x="4370832" y="1325880"/>
            <a:ext cx="3474720" cy="1417320"/>
          </a:xfrm>
          <a:prstGeom prst="roundRect">
            <a:avLst/>
          </a:prstGeom>
          <a:solidFill>
            <a:srgbClr val="E8F4F2"/>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9" name="TextBox 8"/>
          <p:cNvSpPr txBox="1"/>
          <p:nvPr/>
        </p:nvSpPr>
        <p:spPr>
          <a:xfrm>
            <a:off x="4535424" y="1453895"/>
            <a:ext cx="3145536" cy="1161288"/>
          </a:xfrm>
          <a:prstGeom prst="rect">
            <a:avLst/>
          </a:prstGeom>
          <a:noFill/>
        </p:spPr>
        <p:txBody>
          <a:bodyPr wrap="square" lIns="73152" rIns="73152">
            <a:spAutoFit/>
          </a:bodyPr>
          <a:lstStyle/>
          <a:p>
            <a:pPr>
              <a:defRPr sz="1700" b="1">
                <a:solidFill>
                  <a:srgbClr val="1E3750"/>
                </a:solidFill>
              </a:defRPr>
            </a:pPr>
            <a:r>
              <a:rPr sz="1600"/>
              <a:t>Assets &amp; Transactions</a:t>
            </a:r>
          </a:p>
          <a:p>
            <a:pPr>
              <a:defRPr sz="1400">
                <a:solidFill>
                  <a:srgbClr val="262A2E"/>
                </a:solidFill>
              </a:defRPr>
            </a:pPr>
            <a:r>
              <a:rPr sz="1600"/>
              <a:t>A client can have multiple assets and transactions. A transaction may reference a specific asset.</a:t>
            </a:r>
          </a:p>
        </p:txBody>
      </p:sp>
      <p:sp>
        <p:nvSpPr>
          <p:cNvPr id="10" name="Rounded Rectangle 9"/>
          <p:cNvSpPr/>
          <p:nvPr/>
        </p:nvSpPr>
        <p:spPr>
          <a:xfrm>
            <a:off x="8010144" y="1325880"/>
            <a:ext cx="3474720" cy="1417320"/>
          </a:xfrm>
          <a:prstGeom prst="roundRect">
            <a:avLst/>
          </a:prstGeom>
          <a:solidFill>
            <a:srgbClr val="E8F4F2"/>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11" name="TextBox 10"/>
          <p:cNvSpPr txBox="1"/>
          <p:nvPr/>
        </p:nvSpPr>
        <p:spPr>
          <a:xfrm>
            <a:off x="8174736" y="1453895"/>
            <a:ext cx="3145536" cy="1161288"/>
          </a:xfrm>
          <a:prstGeom prst="rect">
            <a:avLst/>
          </a:prstGeom>
          <a:noFill/>
        </p:spPr>
        <p:txBody>
          <a:bodyPr wrap="square" lIns="73152" rIns="73152">
            <a:spAutoFit/>
          </a:bodyPr>
          <a:lstStyle/>
          <a:p>
            <a:pPr>
              <a:defRPr sz="1700" b="1">
                <a:solidFill>
                  <a:srgbClr val="1E3750"/>
                </a:solidFill>
              </a:defRPr>
            </a:pPr>
            <a:r>
              <a:rPr sz="1600"/>
              <a:t>Appointments</a:t>
            </a:r>
          </a:p>
          <a:p>
            <a:pPr>
              <a:defRPr sz="1400">
                <a:solidFill>
                  <a:srgbClr val="262A2E"/>
                </a:solidFill>
              </a:defRPr>
            </a:pPr>
            <a:r>
              <a:rPr sz="1600"/>
              <a:t>Clients can have multiple appointments. Each appointment records the client and employee involved.</a:t>
            </a:r>
          </a:p>
        </p:txBody>
      </p:sp>
      <p:sp>
        <p:nvSpPr>
          <p:cNvPr id="12" name="Rounded Rectangle 11"/>
          <p:cNvSpPr/>
          <p:nvPr/>
        </p:nvSpPr>
        <p:spPr>
          <a:xfrm>
            <a:off x="2560320" y="3246120"/>
            <a:ext cx="3474720" cy="1417320"/>
          </a:xfrm>
          <a:prstGeom prst="roundRect">
            <a:avLst/>
          </a:prstGeom>
          <a:solidFill>
            <a:srgbClr val="E8F4F2"/>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13" name="TextBox 12"/>
          <p:cNvSpPr txBox="1"/>
          <p:nvPr/>
        </p:nvSpPr>
        <p:spPr>
          <a:xfrm>
            <a:off x="2724912" y="3374136"/>
            <a:ext cx="3145536" cy="1161288"/>
          </a:xfrm>
          <a:prstGeom prst="rect">
            <a:avLst/>
          </a:prstGeom>
          <a:noFill/>
        </p:spPr>
        <p:txBody>
          <a:bodyPr wrap="square" lIns="73152" rIns="73152">
            <a:spAutoFit/>
          </a:bodyPr>
          <a:lstStyle/>
          <a:p>
            <a:pPr>
              <a:defRPr sz="1700" b="1">
                <a:solidFill>
                  <a:srgbClr val="1E3750"/>
                </a:solidFill>
              </a:defRPr>
            </a:pPr>
            <a:r>
              <a:rPr sz="1600"/>
              <a:t>Billing</a:t>
            </a:r>
          </a:p>
          <a:p>
            <a:pPr>
              <a:defRPr sz="1400">
                <a:solidFill>
                  <a:srgbClr val="262A2E"/>
                </a:solidFill>
              </a:defRPr>
            </a:pPr>
            <a:r>
              <a:rPr sz="1600"/>
              <a:t>A client can have multiple billing records. Each record stores the amount, date, and payment status.</a:t>
            </a:r>
          </a:p>
        </p:txBody>
      </p:sp>
      <p:sp>
        <p:nvSpPr>
          <p:cNvPr id="14" name="Rounded Rectangle 13"/>
          <p:cNvSpPr/>
          <p:nvPr/>
        </p:nvSpPr>
        <p:spPr>
          <a:xfrm>
            <a:off x="6172200" y="3246120"/>
            <a:ext cx="3474720" cy="1417320"/>
          </a:xfrm>
          <a:prstGeom prst="roundRect">
            <a:avLst/>
          </a:prstGeom>
          <a:solidFill>
            <a:srgbClr val="E8F4F2"/>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15" name="TextBox 14"/>
          <p:cNvSpPr txBox="1"/>
          <p:nvPr/>
        </p:nvSpPr>
        <p:spPr>
          <a:xfrm>
            <a:off x="6336792" y="3374136"/>
            <a:ext cx="3145536" cy="1161288"/>
          </a:xfrm>
          <a:prstGeom prst="rect">
            <a:avLst/>
          </a:prstGeom>
          <a:noFill/>
        </p:spPr>
        <p:txBody>
          <a:bodyPr wrap="square" lIns="73152" rIns="73152">
            <a:spAutoFit/>
          </a:bodyPr>
          <a:lstStyle/>
          <a:p>
            <a:pPr>
              <a:defRPr sz="1700" b="1">
                <a:solidFill>
                  <a:srgbClr val="1E3750"/>
                </a:solidFill>
              </a:defRPr>
            </a:pPr>
            <a:r>
              <a:rPr sz="1600"/>
              <a:t>Database Integrity</a:t>
            </a:r>
          </a:p>
          <a:p>
            <a:pPr>
              <a:defRPr sz="1400">
                <a:solidFill>
                  <a:srgbClr val="262A2E"/>
                </a:solidFill>
              </a:defRPr>
            </a:pPr>
            <a:r>
              <a:rPr sz="1600"/>
              <a:t>Primary and foreign keys connect related records and help prevent inconsistent relationships.</a:t>
            </a:r>
          </a:p>
        </p:txBody>
      </p:sp>
      <p:sp>
        <p:nvSpPr>
          <p:cNvPr id="16" name="Rectangle 15"/>
          <p:cNvSpPr/>
          <p:nvPr/>
        </p:nvSpPr>
        <p:spPr>
          <a:xfrm>
            <a:off x="0" y="182880"/>
            <a:ext cx="109728" cy="6675120"/>
          </a:xfrm>
          <a:prstGeom prst="rect">
            <a:avLst/>
          </a:prstGeom>
          <a:solidFill>
            <a:srgbClr val="457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E375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3" name="TextBox 2"/>
          <p:cNvSpPr txBox="1"/>
          <p:nvPr/>
        </p:nvSpPr>
        <p:spPr>
          <a:xfrm>
            <a:off x="594360" y="393192"/>
            <a:ext cx="10789920" cy="502920"/>
          </a:xfrm>
          <a:prstGeom prst="rect">
            <a:avLst/>
          </a:prstGeom>
          <a:noFill/>
        </p:spPr>
        <p:txBody>
          <a:bodyPr wrap="square" lIns="73152" rIns="73152">
            <a:spAutoFit/>
          </a:bodyPr>
          <a:lstStyle/>
          <a:p>
            <a:pPr>
              <a:defRPr sz="2700" b="1">
                <a:solidFill>
                  <a:srgbClr val="1E3750"/>
                </a:solidFill>
              </a:defRPr>
            </a:pPr>
            <a:r>
              <a:t>Final Entity-Relationship Diagram (ERD)</a:t>
            </a:r>
          </a:p>
        </p:txBody>
      </p:sp>
      <p:sp>
        <p:nvSpPr>
          <p:cNvPr id="4" name="Rectangle 3"/>
          <p:cNvSpPr/>
          <p:nvPr/>
        </p:nvSpPr>
        <p:spPr>
          <a:xfrm>
            <a:off x="603504" y="969264"/>
            <a:ext cx="1097280" cy="36576"/>
          </a:xfrm>
          <a:prstGeom prst="rect">
            <a:avLst/>
          </a:prstGeom>
          <a:solidFill>
            <a:srgbClr val="B99752"/>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5" name="TextBox 4"/>
          <p:cNvSpPr txBox="1"/>
          <p:nvPr/>
        </p:nvSpPr>
        <p:spPr>
          <a:xfrm>
            <a:off x="10972800" y="6510528"/>
            <a:ext cx="457200" cy="182880"/>
          </a:xfrm>
          <a:prstGeom prst="rect">
            <a:avLst/>
          </a:prstGeom>
          <a:noFill/>
        </p:spPr>
        <p:txBody>
          <a:bodyPr wrap="square" lIns="73152" rIns="73152">
            <a:spAutoFit/>
          </a:bodyPr>
          <a:lstStyle/>
          <a:p>
            <a:pPr>
              <a:defRPr sz="900">
                <a:solidFill>
                  <a:srgbClr val="5F6973"/>
                </a:solidFill>
              </a:defRPr>
            </a:pPr>
            <a:r>
              <a:t>5</a:t>
            </a:r>
          </a:p>
        </p:txBody>
      </p:sp>
      <p:pic>
        <p:nvPicPr>
          <p:cNvPr id="6" name="Picture 5" descr="image4.png"/>
          <p:cNvPicPr>
            <a:picLocks noChangeAspect="1"/>
          </p:cNvPicPr>
          <p:nvPr/>
        </p:nvPicPr>
        <p:blipFill>
          <a:blip r:embed="rId3"/>
          <a:stretch>
            <a:fillRect/>
          </a:stretch>
        </p:blipFill>
        <p:spPr>
          <a:xfrm>
            <a:off x="655489" y="1193800"/>
            <a:ext cx="5330033" cy="4085046"/>
          </a:xfrm>
          <a:prstGeom prst="rect">
            <a:avLst/>
          </a:prstGeom>
          <a:ln w="12700">
            <a:solidFill>
              <a:srgbClr val="B9C0C7"/>
            </a:solidFill>
          </a:ln>
        </p:spPr>
      </p:pic>
      <p:sp>
        <p:nvSpPr>
          <p:cNvPr id="7" name="Rectangle 6"/>
          <p:cNvSpPr/>
          <p:nvPr/>
        </p:nvSpPr>
        <p:spPr>
          <a:xfrm>
            <a:off x="0" y="182880"/>
            <a:ext cx="109728" cy="6675120"/>
          </a:xfrm>
          <a:prstGeom prst="rect">
            <a:avLst/>
          </a:prstGeom>
          <a:solidFill>
            <a:srgbClr val="C9A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93763AD2-158E-3494-9C77-1D085C44733A}"/>
              </a:ext>
            </a:extLst>
          </p:cNvPr>
          <p:cNvSpPr txBox="1"/>
          <p:nvPr/>
        </p:nvSpPr>
        <p:spPr>
          <a:xfrm>
            <a:off x="6096000" y="2202543"/>
            <a:ext cx="6096000" cy="24468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500" b="0" i="0" u="none" strike="noStrike" baseline="0">
                <a:solidFill>
                  <a:srgbClr val="262A2E"/>
                </a:solidFill>
                <a:latin typeface="Calibri"/>
                <a:ea typeface="Segoe UI"/>
                <a:cs typeface="Segoe UI"/>
              </a:rPr>
              <a:t>Separate tables are used for employees, clients, assets, transactions, appointments, and billing.</a:t>
            </a:r>
            <a:r>
              <a:rPr lang="en-US" sz="1500" b="0" i="0">
                <a:solidFill>
                  <a:srgbClr val="000000"/>
                </a:solidFill>
                <a:latin typeface="Calibri"/>
                <a:ea typeface="Segoe UI"/>
                <a:cs typeface="Segoe UI"/>
              </a:rPr>
              <a:t>​</a:t>
            </a:r>
          </a:p>
          <a:p>
            <a:pPr algn="l" rtl="0"/>
            <a:r>
              <a:rPr lang="en-US" sz="1500" b="0" i="0" u="none" strike="noStrike" baseline="0">
                <a:solidFill>
                  <a:srgbClr val="262A2E"/>
                </a:solidFill>
                <a:latin typeface="Calibri"/>
                <a:ea typeface="Segoe UI"/>
                <a:cs typeface="Segoe UI"/>
              </a:rPr>
              <a:t>Primary keys uniquely identify records in each table.</a:t>
            </a:r>
            <a:r>
              <a:rPr lang="en-US" sz="1500" b="0" i="0">
                <a:solidFill>
                  <a:srgbClr val="000000"/>
                </a:solidFill>
                <a:latin typeface="Calibri"/>
                <a:ea typeface="Segoe UI"/>
                <a:cs typeface="Segoe UI"/>
              </a:rPr>
              <a:t>​</a:t>
            </a:r>
          </a:p>
          <a:p>
            <a:pPr algn="l" rtl="0"/>
            <a:r>
              <a:rPr lang="en-US" sz="1500" b="0" i="0" u="none" strike="noStrike" baseline="0">
                <a:solidFill>
                  <a:srgbClr val="262A2E"/>
                </a:solidFill>
                <a:latin typeface="Calibri"/>
                <a:ea typeface="Segoe UI"/>
                <a:cs typeface="Segoe UI"/>
              </a:rPr>
              <a:t>Foreign keys connect related information without repeating full client or employee details.</a:t>
            </a:r>
            <a:r>
              <a:rPr lang="en-US" sz="1500" b="0" i="0">
                <a:solidFill>
                  <a:srgbClr val="000000"/>
                </a:solidFill>
                <a:latin typeface="Calibri"/>
                <a:ea typeface="Segoe UI"/>
                <a:cs typeface="Segoe UI"/>
              </a:rPr>
              <a:t>​</a:t>
            </a:r>
          </a:p>
          <a:p>
            <a:pPr algn="l" rtl="0"/>
            <a:r>
              <a:rPr lang="en-US" sz="1500" b="0" i="0" u="none" strike="noStrike" baseline="0">
                <a:solidFill>
                  <a:srgbClr val="262A2E"/>
                </a:solidFill>
                <a:latin typeface="Calibri"/>
                <a:ea typeface="Segoe UI"/>
                <a:cs typeface="Segoe UI"/>
              </a:rPr>
              <a:t>The structure supports one-to-many relationships such as one client having many assets or billing records.</a:t>
            </a:r>
            <a:r>
              <a:rPr lang="en-US" sz="1500" b="0" i="0">
                <a:solidFill>
                  <a:srgbClr val="000000"/>
                </a:solidFill>
                <a:latin typeface="Calibri"/>
                <a:ea typeface="Segoe UI"/>
                <a:cs typeface="Segoe UI"/>
              </a:rPr>
              <a:t>​</a:t>
            </a:r>
          </a:p>
          <a:p>
            <a:pPr algn="l" rtl="0"/>
            <a:r>
              <a:rPr lang="en-US" sz="1500" b="0" i="0" u="none" strike="noStrike" baseline="0">
                <a:solidFill>
                  <a:srgbClr val="262A2E"/>
                </a:solidFill>
                <a:latin typeface="Calibri"/>
                <a:ea typeface="Segoe UI"/>
                <a:cs typeface="Segoe UI"/>
              </a:rPr>
              <a:t>Keeping the information separated by subject makes the database easier to update and query.</a:t>
            </a:r>
            <a:r>
              <a:rPr lang="en-US" sz="1500" b="0" i="0">
                <a:solidFill>
                  <a:srgbClr val="000000"/>
                </a:solidFill>
                <a:latin typeface="Calibri"/>
                <a:ea typeface="Segoe UI"/>
                <a:cs typeface="Segoe UI"/>
              </a:rPr>
              <a:t>​</a:t>
            </a:r>
          </a:p>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E375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3" name="TextBox 2"/>
          <p:cNvSpPr txBox="1"/>
          <p:nvPr/>
        </p:nvSpPr>
        <p:spPr>
          <a:xfrm>
            <a:off x="594360" y="393192"/>
            <a:ext cx="10789920" cy="502920"/>
          </a:xfrm>
          <a:prstGeom prst="rect">
            <a:avLst/>
          </a:prstGeom>
          <a:noFill/>
        </p:spPr>
        <p:txBody>
          <a:bodyPr wrap="square" lIns="73152" tIns="45720" rIns="73152" bIns="45720" anchor="t">
            <a:spAutoFit/>
          </a:bodyPr>
          <a:lstStyle/>
          <a:p>
            <a:pPr>
              <a:defRPr sz="2700" b="1">
                <a:solidFill>
                  <a:srgbClr val="1E3750"/>
                </a:solidFill>
              </a:defRPr>
            </a:pPr>
            <a:r>
              <a:t>Report #1: Client </a:t>
            </a:r>
            <a:r>
              <a:rPr lang="en-US"/>
              <a:t>Growth</a:t>
            </a:r>
            <a:endParaRPr/>
          </a:p>
        </p:txBody>
      </p:sp>
      <p:sp>
        <p:nvSpPr>
          <p:cNvPr id="4" name="Rectangle 3"/>
          <p:cNvSpPr/>
          <p:nvPr/>
        </p:nvSpPr>
        <p:spPr>
          <a:xfrm>
            <a:off x="603504" y="969264"/>
            <a:ext cx="1097280" cy="36576"/>
          </a:xfrm>
          <a:prstGeom prst="rect">
            <a:avLst/>
          </a:prstGeom>
          <a:solidFill>
            <a:srgbClr val="B99752"/>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5" name="TextBox 4"/>
          <p:cNvSpPr txBox="1"/>
          <p:nvPr/>
        </p:nvSpPr>
        <p:spPr>
          <a:xfrm>
            <a:off x="10972800" y="6510528"/>
            <a:ext cx="457200" cy="182880"/>
          </a:xfrm>
          <a:prstGeom prst="rect">
            <a:avLst/>
          </a:prstGeom>
          <a:noFill/>
        </p:spPr>
        <p:txBody>
          <a:bodyPr wrap="square" lIns="73152" rIns="73152">
            <a:spAutoFit/>
          </a:bodyPr>
          <a:lstStyle/>
          <a:p>
            <a:pPr>
              <a:defRPr sz="900">
                <a:solidFill>
                  <a:srgbClr val="5F6973"/>
                </a:solidFill>
              </a:defRPr>
            </a:pPr>
            <a:r>
              <a:t>7</a:t>
            </a:r>
          </a:p>
        </p:txBody>
      </p:sp>
      <p:sp>
        <p:nvSpPr>
          <p:cNvPr id="6" name="Rounded Rectangle 5"/>
          <p:cNvSpPr/>
          <p:nvPr/>
        </p:nvSpPr>
        <p:spPr>
          <a:xfrm>
            <a:off x="618309" y="1234440"/>
            <a:ext cx="4822371" cy="1459411"/>
          </a:xfrm>
          <a:prstGeom prst="roundRect">
            <a:avLst/>
          </a:prstGeom>
          <a:solidFill>
            <a:srgbClr val="E8F4F2"/>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7" name="TextBox 6"/>
          <p:cNvSpPr txBox="1"/>
          <p:nvPr/>
        </p:nvSpPr>
        <p:spPr>
          <a:xfrm>
            <a:off x="775642" y="1297142"/>
            <a:ext cx="4471416" cy="1400383"/>
          </a:xfrm>
          <a:prstGeom prst="rect">
            <a:avLst/>
          </a:prstGeom>
          <a:noFill/>
        </p:spPr>
        <p:txBody>
          <a:bodyPr wrap="square" lIns="73152" tIns="45720" rIns="73152" bIns="45720" anchor="t">
            <a:spAutoFit/>
          </a:bodyPr>
          <a:lstStyle/>
          <a:p>
            <a:pPr>
              <a:defRPr sz="1700" b="1">
                <a:solidFill>
                  <a:srgbClr val="1E3750"/>
                </a:solidFill>
              </a:defRPr>
            </a:pPr>
            <a:r>
              <a:rPr sz="1700"/>
              <a:t>Business Purpose</a:t>
            </a:r>
          </a:p>
          <a:p>
            <a:pPr>
              <a:defRPr sz="1400">
                <a:solidFill>
                  <a:srgbClr val="262A2E"/>
                </a:solidFill>
              </a:defRPr>
            </a:pPr>
            <a:r>
              <a:rPr lang="en-US" sz="1700" dirty="0"/>
              <a:t>Shows how many new clients were added during </a:t>
            </a:r>
            <a:r>
              <a:rPr lang="en-US" sz="1700"/>
              <a:t>the past six months. This helps: </a:t>
            </a:r>
          </a:p>
          <a:p>
            <a:pPr marL="285750" indent="-285750">
              <a:buFont typeface="Arial"/>
              <a:buChar char="•"/>
              <a:defRPr sz="1400">
                <a:solidFill>
                  <a:srgbClr val="262A2E"/>
                </a:solidFill>
              </a:defRPr>
            </a:pPr>
            <a:r>
              <a:rPr lang="en-US" sz="1700">
                <a:ea typeface="Calibri"/>
                <a:cs typeface="Calibri"/>
              </a:rPr>
              <a:t>Measure company growth </a:t>
            </a:r>
          </a:p>
          <a:p>
            <a:pPr marL="285750" indent="-285750">
              <a:buFont typeface="Arial"/>
              <a:buChar char="•"/>
              <a:defRPr sz="1400">
                <a:solidFill>
                  <a:srgbClr val="262A2E"/>
                </a:solidFill>
              </a:defRPr>
            </a:pPr>
            <a:r>
              <a:rPr lang="en-US" sz="1700">
                <a:ea typeface="Calibri"/>
                <a:cs typeface="Calibri"/>
              </a:rPr>
              <a:t>Evaluate marketing efforts.</a:t>
            </a:r>
            <a:endParaRPr lang="en-US" sz="1700" dirty="0">
              <a:ea typeface="Calibri"/>
              <a:cs typeface="Calibri"/>
            </a:endParaRPr>
          </a:p>
        </p:txBody>
      </p:sp>
      <p:sp>
        <p:nvSpPr>
          <p:cNvPr id="8" name="TextBox 7"/>
          <p:cNvSpPr txBox="1"/>
          <p:nvPr/>
        </p:nvSpPr>
        <p:spPr>
          <a:xfrm>
            <a:off x="777240" y="2893423"/>
            <a:ext cx="4572000" cy="1669688"/>
          </a:xfrm>
          <a:prstGeom prst="rect">
            <a:avLst/>
          </a:prstGeom>
          <a:noFill/>
        </p:spPr>
        <p:txBody>
          <a:bodyPr wrap="square" lIns="73152" tIns="45720" rIns="73152" bIns="45720" anchor="t">
            <a:spAutoFit/>
          </a:bodyPr>
          <a:lstStyle/>
          <a:p>
            <a:pPr marL="285750" indent="-285750">
              <a:spcAft>
                <a:spcPts val="900"/>
              </a:spcAft>
              <a:buFont typeface="Arial" panose="020B0604020202020204" pitchFamily="34" charset="0"/>
              <a:buChar char="•"/>
              <a:defRPr sz="1800">
                <a:solidFill>
                  <a:srgbClr val="262A2E"/>
                </a:solidFill>
              </a:defRPr>
            </a:pPr>
            <a:r>
              <a:rPr sz="1600" dirty="0"/>
              <a:t>Counts new clients added in each of the past six months.</a:t>
            </a:r>
          </a:p>
          <a:p>
            <a:pPr marL="285750" indent="-285750">
              <a:spcAft>
                <a:spcPts val="900"/>
              </a:spcAft>
              <a:buFont typeface="Arial" panose="020B0604020202020204" pitchFamily="34" charset="0"/>
              <a:buChar char="•"/>
              <a:defRPr sz="1800">
                <a:solidFill>
                  <a:srgbClr val="262A2E"/>
                </a:solidFill>
              </a:defRPr>
            </a:pPr>
            <a:r>
              <a:rPr sz="1600" dirty="0"/>
              <a:t>Groups the count by signup month.</a:t>
            </a:r>
          </a:p>
          <a:p>
            <a:pPr marL="285750" indent="-285750">
              <a:spcAft>
                <a:spcPts val="900"/>
              </a:spcAft>
              <a:buFont typeface="Arial" panose="020B0604020202020204" pitchFamily="34" charset="0"/>
              <a:buChar char="•"/>
              <a:defRPr sz="1800">
                <a:solidFill>
                  <a:srgbClr val="262A2E"/>
                </a:solidFill>
              </a:defRPr>
            </a:pPr>
            <a:r>
              <a:rPr sz="1600" dirty="0"/>
              <a:t>Shows the trend as the client base grows.</a:t>
            </a:r>
          </a:p>
          <a:p>
            <a:pPr marL="285750" indent="-285750">
              <a:spcAft>
                <a:spcPts val="900"/>
              </a:spcAft>
              <a:buFont typeface="Arial" panose="020B0604020202020204" pitchFamily="34" charset="0"/>
              <a:buChar char="•"/>
              <a:defRPr sz="1800">
                <a:solidFill>
                  <a:srgbClr val="262A2E"/>
                </a:solidFill>
              </a:defRPr>
            </a:pPr>
            <a:r>
              <a:rPr sz="1600" dirty="0"/>
              <a:t>Answers the case study question on client growth.</a:t>
            </a:r>
            <a:r>
              <a:rPr lang="en-US" sz="1600" dirty="0"/>
              <a:t> </a:t>
            </a:r>
            <a:endParaRPr sz="1600" dirty="0"/>
          </a:p>
        </p:txBody>
      </p:sp>
      <p:sp>
        <p:nvSpPr>
          <p:cNvPr id="10" name="Rectangle 9"/>
          <p:cNvSpPr/>
          <p:nvPr/>
        </p:nvSpPr>
        <p:spPr>
          <a:xfrm>
            <a:off x="0" y="182880"/>
            <a:ext cx="109728" cy="6675120"/>
          </a:xfrm>
          <a:prstGeom prst="rect">
            <a:avLst/>
          </a:prstGeom>
          <a:solidFill>
            <a:srgbClr val="457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7C68DA00-E167-6AF8-72F3-56280572DBFF}"/>
              </a:ext>
            </a:extLst>
          </p:cNvPr>
          <p:cNvPicPr>
            <a:picLocks noChangeAspect="1"/>
          </p:cNvPicPr>
          <p:nvPr/>
        </p:nvPicPr>
        <p:blipFill>
          <a:blip r:embed="rId3"/>
          <a:stretch>
            <a:fillRect/>
          </a:stretch>
        </p:blipFill>
        <p:spPr>
          <a:xfrm>
            <a:off x="7494377" y="1867622"/>
            <a:ext cx="3019846" cy="330563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E375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3" name="TextBox 2"/>
          <p:cNvSpPr txBox="1"/>
          <p:nvPr/>
        </p:nvSpPr>
        <p:spPr>
          <a:xfrm>
            <a:off x="594360" y="393192"/>
            <a:ext cx="10789920" cy="502920"/>
          </a:xfrm>
          <a:prstGeom prst="rect">
            <a:avLst/>
          </a:prstGeom>
          <a:noFill/>
        </p:spPr>
        <p:txBody>
          <a:bodyPr wrap="square" lIns="73152" tIns="45720" rIns="73152" bIns="45720" anchor="t">
            <a:spAutoFit/>
          </a:bodyPr>
          <a:lstStyle/>
          <a:p>
            <a:pPr>
              <a:defRPr sz="2700" b="1">
                <a:solidFill>
                  <a:srgbClr val="1E3750"/>
                </a:solidFill>
              </a:defRPr>
            </a:pPr>
            <a:r>
              <a:rPr dirty="0"/>
              <a:t>Report #2: </a:t>
            </a:r>
            <a:r>
              <a:rPr lang="en-US"/>
              <a:t>Average Client Asset Value</a:t>
            </a:r>
            <a:endParaRPr/>
          </a:p>
        </p:txBody>
      </p:sp>
      <p:sp>
        <p:nvSpPr>
          <p:cNvPr id="4" name="Rectangle 3"/>
          <p:cNvSpPr/>
          <p:nvPr/>
        </p:nvSpPr>
        <p:spPr>
          <a:xfrm>
            <a:off x="603504" y="969264"/>
            <a:ext cx="1097280" cy="36576"/>
          </a:xfrm>
          <a:prstGeom prst="rect">
            <a:avLst/>
          </a:prstGeom>
          <a:solidFill>
            <a:srgbClr val="B99752"/>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5" name="TextBox 4"/>
          <p:cNvSpPr txBox="1"/>
          <p:nvPr/>
        </p:nvSpPr>
        <p:spPr>
          <a:xfrm>
            <a:off x="10972800" y="6510528"/>
            <a:ext cx="457200" cy="182880"/>
          </a:xfrm>
          <a:prstGeom prst="rect">
            <a:avLst/>
          </a:prstGeom>
          <a:noFill/>
        </p:spPr>
        <p:txBody>
          <a:bodyPr wrap="square" lIns="73152" rIns="73152">
            <a:spAutoFit/>
          </a:bodyPr>
          <a:lstStyle/>
          <a:p>
            <a:pPr>
              <a:defRPr sz="900">
                <a:solidFill>
                  <a:srgbClr val="5F6973"/>
                </a:solidFill>
              </a:defRPr>
            </a:pPr>
            <a:r>
              <a:t>8</a:t>
            </a:r>
          </a:p>
        </p:txBody>
      </p:sp>
      <p:sp>
        <p:nvSpPr>
          <p:cNvPr id="6" name="Rounded Rectangle 5"/>
          <p:cNvSpPr/>
          <p:nvPr/>
        </p:nvSpPr>
        <p:spPr>
          <a:xfrm>
            <a:off x="611052" y="1234440"/>
            <a:ext cx="4829628" cy="1749696"/>
          </a:xfrm>
          <a:prstGeom prst="roundRect">
            <a:avLst/>
          </a:prstGeom>
          <a:solidFill>
            <a:srgbClr val="FAF5E6"/>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7" name="TextBox 6"/>
          <p:cNvSpPr txBox="1"/>
          <p:nvPr/>
        </p:nvSpPr>
        <p:spPr>
          <a:xfrm>
            <a:off x="804671" y="1362456"/>
            <a:ext cx="4471416" cy="1646605"/>
          </a:xfrm>
          <a:prstGeom prst="rect">
            <a:avLst/>
          </a:prstGeom>
          <a:noFill/>
        </p:spPr>
        <p:txBody>
          <a:bodyPr wrap="square" lIns="73152" tIns="45720" rIns="73152" bIns="45720" anchor="t">
            <a:spAutoFit/>
          </a:bodyPr>
          <a:lstStyle/>
          <a:p>
            <a:pPr>
              <a:defRPr sz="1700" b="1">
                <a:solidFill>
                  <a:srgbClr val="1E3750"/>
                </a:solidFill>
              </a:defRPr>
            </a:pPr>
            <a:r>
              <a:t>Business Purpose</a:t>
            </a:r>
          </a:p>
          <a:p>
            <a:pPr>
              <a:defRPr sz="1400">
                <a:solidFill>
                  <a:srgbClr val="262A2E"/>
                </a:solidFill>
              </a:defRPr>
            </a:pPr>
            <a:r>
              <a:t>Reports the average asset value across the entire client list.</a:t>
            </a:r>
            <a:r>
              <a:rPr lang="en-US"/>
              <a:t> This helps:</a:t>
            </a:r>
            <a:endParaRPr lang="en-US">
              <a:ea typeface="Calibri"/>
              <a:cs typeface="Calibri"/>
            </a:endParaRPr>
          </a:p>
          <a:p>
            <a:pPr marL="285750" indent="-285750">
              <a:buFont typeface="Arial"/>
              <a:buChar char="•"/>
              <a:defRPr sz="1400">
                <a:solidFill>
                  <a:srgbClr val="262A2E"/>
                </a:solidFill>
              </a:defRPr>
            </a:pPr>
            <a:r>
              <a:rPr lang="en-US">
                <a:ea typeface="Calibri"/>
                <a:cs typeface="Calibri"/>
              </a:rPr>
              <a:t>Gauge typical portfolio size and spot the largest holders</a:t>
            </a:r>
            <a:r>
              <a:rPr lang="en-US" dirty="0">
                <a:ea typeface="Calibri"/>
                <a:cs typeface="Calibri"/>
              </a:rPr>
              <a:t>.</a:t>
            </a:r>
          </a:p>
          <a:p>
            <a:pPr marL="285750" indent="-285750">
              <a:buFont typeface="Arial"/>
              <a:buChar char="•"/>
              <a:defRPr sz="1400">
                <a:solidFill>
                  <a:srgbClr val="262A2E"/>
                </a:solidFill>
              </a:defRPr>
            </a:pPr>
            <a:endParaRPr lang="en-US" dirty="0">
              <a:ea typeface="Calibri"/>
              <a:cs typeface="Calibri"/>
            </a:endParaRPr>
          </a:p>
          <a:p>
            <a:pPr>
              <a:defRPr sz="1400">
                <a:solidFill>
                  <a:srgbClr val="262A2E"/>
                </a:solidFill>
              </a:defRPr>
            </a:pPr>
            <a:endParaRPr lang="en-US" dirty="0">
              <a:ea typeface="Calibri"/>
              <a:cs typeface="Calibri"/>
            </a:endParaRPr>
          </a:p>
        </p:txBody>
      </p:sp>
      <p:sp>
        <p:nvSpPr>
          <p:cNvPr id="8" name="TextBox 7"/>
          <p:cNvSpPr txBox="1"/>
          <p:nvPr/>
        </p:nvSpPr>
        <p:spPr>
          <a:xfrm>
            <a:off x="704669" y="3132909"/>
            <a:ext cx="4572000" cy="1669688"/>
          </a:xfrm>
          <a:prstGeom prst="rect">
            <a:avLst/>
          </a:prstGeom>
          <a:noFill/>
        </p:spPr>
        <p:txBody>
          <a:bodyPr wrap="square" lIns="73152" rIns="73152">
            <a:spAutoFit/>
          </a:bodyPr>
          <a:lstStyle/>
          <a:p>
            <a:pPr marL="285750" indent="-285750">
              <a:spcAft>
                <a:spcPts val="900"/>
              </a:spcAft>
              <a:buFont typeface="Arial" panose="020B0604020202020204" pitchFamily="34" charset="0"/>
              <a:buChar char="•"/>
              <a:defRPr sz="1800">
                <a:solidFill>
                  <a:srgbClr val="262A2E"/>
                </a:solidFill>
              </a:defRPr>
            </a:pPr>
            <a:r>
              <a:rPr sz="1600" dirty="0"/>
              <a:t>Totals each client's asset value.</a:t>
            </a:r>
          </a:p>
          <a:p>
            <a:pPr marL="285750" indent="-285750">
              <a:spcAft>
                <a:spcPts val="900"/>
              </a:spcAft>
              <a:buFont typeface="Arial" panose="020B0604020202020204" pitchFamily="34" charset="0"/>
              <a:buChar char="•"/>
              <a:defRPr sz="1800">
                <a:solidFill>
                  <a:srgbClr val="262A2E"/>
                </a:solidFill>
              </a:defRPr>
            </a:pPr>
            <a:r>
              <a:rPr sz="1600" dirty="0"/>
              <a:t>Ranks clients from highest to lowest total.</a:t>
            </a:r>
          </a:p>
          <a:p>
            <a:pPr marL="285750" indent="-285750">
              <a:spcAft>
                <a:spcPts val="900"/>
              </a:spcAft>
              <a:buFont typeface="Arial" panose="020B0604020202020204" pitchFamily="34" charset="0"/>
              <a:buChar char="•"/>
              <a:defRPr sz="1800">
                <a:solidFill>
                  <a:srgbClr val="262A2E"/>
                </a:solidFill>
              </a:defRPr>
            </a:pPr>
            <a:r>
              <a:rPr sz="1600" dirty="0"/>
              <a:t>Averages those totals across the whole client list.</a:t>
            </a:r>
          </a:p>
          <a:p>
            <a:pPr marL="285750" indent="-285750">
              <a:spcAft>
                <a:spcPts val="900"/>
              </a:spcAft>
              <a:buFont typeface="Arial" panose="020B0604020202020204" pitchFamily="34" charset="0"/>
              <a:buChar char="•"/>
              <a:defRPr sz="1800">
                <a:solidFill>
                  <a:srgbClr val="262A2E"/>
                </a:solidFill>
              </a:defRPr>
            </a:pPr>
            <a:r>
              <a:rPr sz="1600" dirty="0"/>
              <a:t>Answers the case study question on average client assets.</a:t>
            </a:r>
          </a:p>
        </p:txBody>
      </p:sp>
      <p:sp>
        <p:nvSpPr>
          <p:cNvPr id="10" name="Rectangle 9"/>
          <p:cNvSpPr/>
          <p:nvPr/>
        </p:nvSpPr>
        <p:spPr>
          <a:xfrm>
            <a:off x="0" y="182880"/>
            <a:ext cx="109728" cy="6675120"/>
          </a:xfrm>
          <a:prstGeom prst="rect">
            <a:avLst/>
          </a:prstGeom>
          <a:solidFill>
            <a:srgbClr val="C9A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1AF2587C-06DF-7B73-5299-E36C4678EC76}"/>
              </a:ext>
            </a:extLst>
          </p:cNvPr>
          <p:cNvPicPr>
            <a:picLocks noChangeAspect="1"/>
          </p:cNvPicPr>
          <p:nvPr/>
        </p:nvPicPr>
        <p:blipFill>
          <a:blip r:embed="rId3"/>
          <a:stretch>
            <a:fillRect/>
          </a:stretch>
        </p:blipFill>
        <p:spPr>
          <a:xfrm>
            <a:off x="7214942" y="1633287"/>
            <a:ext cx="3515216" cy="359142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47E442A4-2A24-A0C8-8CA5-BBB860C263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4152CB-230D-B2FE-7F28-E09BDBC76850}"/>
              </a:ext>
            </a:extLst>
          </p:cNvPr>
          <p:cNvSpPr/>
          <p:nvPr/>
        </p:nvSpPr>
        <p:spPr>
          <a:xfrm>
            <a:off x="0" y="0"/>
            <a:ext cx="12191695" cy="182880"/>
          </a:xfrm>
          <a:prstGeom prst="rect">
            <a:avLst/>
          </a:prstGeom>
          <a:solidFill>
            <a:srgbClr val="1E375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3" name="TextBox 2">
            <a:extLst>
              <a:ext uri="{FF2B5EF4-FFF2-40B4-BE49-F238E27FC236}">
                <a16:creationId xmlns:a16="http://schemas.microsoft.com/office/drawing/2014/main" id="{73335639-76DB-A7F2-17A4-5FC192E45B25}"/>
              </a:ext>
            </a:extLst>
          </p:cNvPr>
          <p:cNvSpPr txBox="1"/>
          <p:nvPr/>
        </p:nvSpPr>
        <p:spPr>
          <a:xfrm>
            <a:off x="594360" y="393192"/>
            <a:ext cx="10789920" cy="502920"/>
          </a:xfrm>
          <a:prstGeom prst="rect">
            <a:avLst/>
          </a:prstGeom>
          <a:noFill/>
        </p:spPr>
        <p:txBody>
          <a:bodyPr wrap="square" lIns="73152" rIns="73152">
            <a:spAutoFit/>
          </a:bodyPr>
          <a:lstStyle/>
          <a:p>
            <a:pPr>
              <a:defRPr sz="2700" b="1">
                <a:solidFill>
                  <a:srgbClr val="1E3750"/>
                </a:solidFill>
              </a:defRPr>
            </a:pPr>
            <a:r>
              <a:rPr lang="en-US" sz="2700" b="1" dirty="0"/>
              <a:t>Report #3: High-Transaction Clients</a:t>
            </a:r>
            <a:endParaRPr dirty="0"/>
          </a:p>
        </p:txBody>
      </p:sp>
      <p:sp>
        <p:nvSpPr>
          <p:cNvPr id="4" name="Rectangle 3">
            <a:extLst>
              <a:ext uri="{FF2B5EF4-FFF2-40B4-BE49-F238E27FC236}">
                <a16:creationId xmlns:a16="http://schemas.microsoft.com/office/drawing/2014/main" id="{B13EDFA9-EF6C-A12E-6092-77B709067995}"/>
              </a:ext>
            </a:extLst>
          </p:cNvPr>
          <p:cNvSpPr/>
          <p:nvPr/>
        </p:nvSpPr>
        <p:spPr>
          <a:xfrm>
            <a:off x="603504" y="969264"/>
            <a:ext cx="1097280" cy="36576"/>
          </a:xfrm>
          <a:prstGeom prst="rect">
            <a:avLst/>
          </a:prstGeom>
          <a:solidFill>
            <a:srgbClr val="B99752"/>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5" name="TextBox 4">
            <a:extLst>
              <a:ext uri="{FF2B5EF4-FFF2-40B4-BE49-F238E27FC236}">
                <a16:creationId xmlns:a16="http://schemas.microsoft.com/office/drawing/2014/main" id="{6BC75348-1887-DE94-9531-97B29132DA0C}"/>
              </a:ext>
            </a:extLst>
          </p:cNvPr>
          <p:cNvSpPr txBox="1"/>
          <p:nvPr/>
        </p:nvSpPr>
        <p:spPr>
          <a:xfrm>
            <a:off x="10972800" y="6510528"/>
            <a:ext cx="457200" cy="182880"/>
          </a:xfrm>
          <a:prstGeom prst="rect">
            <a:avLst/>
          </a:prstGeom>
          <a:noFill/>
        </p:spPr>
        <p:txBody>
          <a:bodyPr wrap="square" lIns="73152" rIns="73152">
            <a:spAutoFit/>
          </a:bodyPr>
          <a:lstStyle/>
          <a:p>
            <a:pPr>
              <a:defRPr sz="900">
                <a:solidFill>
                  <a:srgbClr val="5F6973"/>
                </a:solidFill>
              </a:defRPr>
            </a:pPr>
            <a:r>
              <a:t>9</a:t>
            </a:r>
          </a:p>
        </p:txBody>
      </p:sp>
      <p:sp>
        <p:nvSpPr>
          <p:cNvPr id="6" name="Rounded Rectangle 5">
            <a:extLst>
              <a:ext uri="{FF2B5EF4-FFF2-40B4-BE49-F238E27FC236}">
                <a16:creationId xmlns:a16="http://schemas.microsoft.com/office/drawing/2014/main" id="{73435333-C3A7-5CCA-122F-4BFCA08159B1}"/>
              </a:ext>
            </a:extLst>
          </p:cNvPr>
          <p:cNvSpPr/>
          <p:nvPr/>
        </p:nvSpPr>
        <p:spPr>
          <a:xfrm>
            <a:off x="640080" y="1234440"/>
            <a:ext cx="4800600" cy="2199002"/>
          </a:xfrm>
          <a:prstGeom prst="roundRect">
            <a:avLst/>
          </a:prstGeom>
          <a:solidFill>
            <a:schemeClr val="accent5">
              <a:lumMod val="40000"/>
              <a:lumOff val="60000"/>
            </a:schemeClr>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7" name="TextBox 6">
            <a:extLst>
              <a:ext uri="{FF2B5EF4-FFF2-40B4-BE49-F238E27FC236}">
                <a16:creationId xmlns:a16="http://schemas.microsoft.com/office/drawing/2014/main" id="{E97FB757-C79A-FC5D-66B7-646E3962B28A}"/>
              </a:ext>
            </a:extLst>
          </p:cNvPr>
          <p:cNvSpPr txBox="1"/>
          <p:nvPr/>
        </p:nvSpPr>
        <p:spPr>
          <a:xfrm>
            <a:off x="804671" y="1362456"/>
            <a:ext cx="4471416" cy="2062103"/>
          </a:xfrm>
          <a:prstGeom prst="rect">
            <a:avLst/>
          </a:prstGeom>
          <a:noFill/>
        </p:spPr>
        <p:txBody>
          <a:bodyPr wrap="square" lIns="73152" rIns="73152">
            <a:spAutoFit/>
          </a:bodyPr>
          <a:lstStyle/>
          <a:p>
            <a:r>
              <a:rPr lang="en-US" sz="1600" b="1" dirty="0"/>
              <a:t>Business Purpose :</a:t>
            </a:r>
            <a:br>
              <a:rPr lang="en-US" sz="1600" dirty="0"/>
            </a:br>
            <a:r>
              <a:rPr lang="en-US" sz="1600" dirty="0"/>
              <a:t>Identifies clients with more than ten transactions in a single month, so Jake and Ned can see the high-activity accounts at a glance.</a:t>
            </a:r>
          </a:p>
          <a:p>
            <a:r>
              <a:rPr lang="en-US" sz="1600" dirty="0"/>
              <a:t>This helps:</a:t>
            </a:r>
          </a:p>
          <a:p>
            <a:pPr lvl="0"/>
            <a:r>
              <a:rPr lang="en-US" sz="1600" dirty="0"/>
              <a:t>Flag heavy users for the billing-structure review</a:t>
            </a:r>
          </a:p>
          <a:p>
            <a:pPr lvl="0"/>
            <a:r>
              <a:rPr lang="en-US" sz="1600" dirty="0"/>
              <a:t>Spot which clients might warrant different pricing or service levels</a:t>
            </a:r>
          </a:p>
        </p:txBody>
      </p:sp>
      <p:sp>
        <p:nvSpPr>
          <p:cNvPr id="8" name="TextBox 7">
            <a:extLst>
              <a:ext uri="{FF2B5EF4-FFF2-40B4-BE49-F238E27FC236}">
                <a16:creationId xmlns:a16="http://schemas.microsoft.com/office/drawing/2014/main" id="{C6B9B228-395A-652E-2886-5CC136D33BEF}"/>
              </a:ext>
            </a:extLst>
          </p:cNvPr>
          <p:cNvSpPr txBox="1"/>
          <p:nvPr/>
        </p:nvSpPr>
        <p:spPr>
          <a:xfrm>
            <a:off x="804671" y="3570478"/>
            <a:ext cx="4572000" cy="1569660"/>
          </a:xfrm>
          <a:prstGeom prst="rect">
            <a:avLst/>
          </a:prstGeom>
          <a:noFill/>
        </p:spPr>
        <p:txBody>
          <a:bodyPr wrap="square" lIns="73152" rIns="73152">
            <a:spAutoFit/>
          </a:bodyPr>
          <a:lstStyle/>
          <a:p>
            <a:pPr marL="285750" lvl="0" indent="-285750">
              <a:buFont typeface="Arial" panose="020B0604020202020204" pitchFamily="34" charset="0"/>
              <a:buChar char="•"/>
            </a:pPr>
            <a:r>
              <a:rPr lang="en-US" sz="1600" dirty="0"/>
              <a:t>Lists each client who exceeds ten transactions in a month</a:t>
            </a:r>
          </a:p>
          <a:p>
            <a:pPr marL="285750" lvl="0" indent="-285750">
              <a:buFont typeface="Arial" panose="020B0604020202020204" pitchFamily="34" charset="0"/>
              <a:buChar char="•"/>
            </a:pPr>
            <a:r>
              <a:rPr lang="en-US" sz="1600" dirty="0"/>
              <a:t>Shows the month and the transaction count</a:t>
            </a:r>
          </a:p>
          <a:p>
            <a:pPr marL="285750" lvl="0" indent="-285750">
              <a:buFont typeface="Arial" panose="020B0604020202020204" pitchFamily="34" charset="0"/>
              <a:buChar char="•"/>
            </a:pPr>
            <a:r>
              <a:rPr lang="en-US" sz="1600" dirty="0"/>
              <a:t>Sorted by volume, highest first</a:t>
            </a:r>
          </a:p>
          <a:p>
            <a:pPr marL="285750" lvl="0" indent="-285750">
              <a:buFont typeface="Arial" panose="020B0604020202020204" pitchFamily="34" charset="0"/>
              <a:buChar char="•"/>
            </a:pPr>
            <a:r>
              <a:rPr lang="en-US" sz="1600" dirty="0"/>
              <a:t>Answers the case study's high-transaction question directly</a:t>
            </a:r>
          </a:p>
        </p:txBody>
      </p:sp>
      <p:sp>
        <p:nvSpPr>
          <p:cNvPr id="10" name="Rectangle 9">
            <a:extLst>
              <a:ext uri="{FF2B5EF4-FFF2-40B4-BE49-F238E27FC236}">
                <a16:creationId xmlns:a16="http://schemas.microsoft.com/office/drawing/2014/main" id="{86182F90-B9D6-4A71-766D-DB011CAC0D7F}"/>
              </a:ext>
            </a:extLst>
          </p:cNvPr>
          <p:cNvSpPr/>
          <p:nvPr/>
        </p:nvSpPr>
        <p:spPr>
          <a:xfrm>
            <a:off x="0" y="182880"/>
            <a:ext cx="109728" cy="6675120"/>
          </a:xfrm>
          <a:prstGeom prst="rect">
            <a:avLst/>
          </a:prstGeom>
          <a:solidFill>
            <a:srgbClr val="4389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a:extLst>
              <a:ext uri="{FF2B5EF4-FFF2-40B4-BE49-F238E27FC236}">
                <a16:creationId xmlns:a16="http://schemas.microsoft.com/office/drawing/2014/main" id="{2E2AFFC0-7480-D637-FD68-531FA47875AF}"/>
              </a:ext>
            </a:extLst>
          </p:cNvPr>
          <p:cNvPicPr>
            <a:picLocks noChangeAspect="1"/>
          </p:cNvPicPr>
          <p:nvPr/>
        </p:nvPicPr>
        <p:blipFill>
          <a:blip r:embed="rId3"/>
          <a:stretch>
            <a:fillRect/>
          </a:stretch>
        </p:blipFill>
        <p:spPr>
          <a:xfrm>
            <a:off x="6997547" y="2639254"/>
            <a:ext cx="3362794" cy="1762371"/>
          </a:xfrm>
          <a:prstGeom prst="rect">
            <a:avLst/>
          </a:prstGeom>
        </p:spPr>
      </p:pic>
    </p:spTree>
    <p:extLst>
      <p:ext uri="{BB962C8B-B14F-4D97-AF65-F5344CB8AC3E}">
        <p14:creationId xmlns:p14="http://schemas.microsoft.com/office/powerpoint/2010/main" val="1321130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E375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3" name="TextBox 2"/>
          <p:cNvSpPr txBox="1"/>
          <p:nvPr/>
        </p:nvSpPr>
        <p:spPr>
          <a:xfrm>
            <a:off x="594360" y="393192"/>
            <a:ext cx="10789920" cy="502920"/>
          </a:xfrm>
          <a:prstGeom prst="rect">
            <a:avLst/>
          </a:prstGeom>
          <a:noFill/>
        </p:spPr>
        <p:txBody>
          <a:bodyPr wrap="square" lIns="73152" rIns="73152">
            <a:spAutoFit/>
          </a:bodyPr>
          <a:lstStyle/>
          <a:p>
            <a:pPr>
              <a:defRPr sz="2700" b="1">
                <a:solidFill>
                  <a:srgbClr val="1E3750"/>
                </a:solidFill>
              </a:defRPr>
            </a:pPr>
            <a:r>
              <a:rPr dirty="0"/>
              <a:t>Report #</a:t>
            </a:r>
            <a:r>
              <a:rPr lang="en-US" dirty="0"/>
              <a:t>4</a:t>
            </a:r>
            <a:r>
              <a:rPr dirty="0"/>
              <a:t>: Billing Status Report</a:t>
            </a:r>
          </a:p>
        </p:txBody>
      </p:sp>
      <p:sp>
        <p:nvSpPr>
          <p:cNvPr id="4" name="Rectangle 3"/>
          <p:cNvSpPr/>
          <p:nvPr/>
        </p:nvSpPr>
        <p:spPr>
          <a:xfrm>
            <a:off x="603504" y="969264"/>
            <a:ext cx="1097280" cy="36576"/>
          </a:xfrm>
          <a:prstGeom prst="rect">
            <a:avLst/>
          </a:prstGeom>
          <a:solidFill>
            <a:srgbClr val="B99752"/>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5" name="TextBox 4"/>
          <p:cNvSpPr txBox="1"/>
          <p:nvPr/>
        </p:nvSpPr>
        <p:spPr>
          <a:xfrm>
            <a:off x="10972800" y="6510528"/>
            <a:ext cx="457200" cy="182880"/>
          </a:xfrm>
          <a:prstGeom prst="rect">
            <a:avLst/>
          </a:prstGeom>
          <a:noFill/>
        </p:spPr>
        <p:txBody>
          <a:bodyPr wrap="square" lIns="73152" rIns="73152">
            <a:spAutoFit/>
          </a:bodyPr>
          <a:lstStyle/>
          <a:p>
            <a:pPr>
              <a:defRPr sz="900">
                <a:solidFill>
                  <a:srgbClr val="5F6973"/>
                </a:solidFill>
              </a:defRPr>
            </a:pPr>
            <a:r>
              <a:t>9</a:t>
            </a:r>
          </a:p>
        </p:txBody>
      </p:sp>
      <p:sp>
        <p:nvSpPr>
          <p:cNvPr id="6" name="Rounded Rectangle 5"/>
          <p:cNvSpPr/>
          <p:nvPr/>
        </p:nvSpPr>
        <p:spPr>
          <a:xfrm>
            <a:off x="640080" y="1234440"/>
            <a:ext cx="4800600" cy="1234440"/>
          </a:xfrm>
          <a:prstGeom prst="roundRect">
            <a:avLst/>
          </a:prstGeom>
          <a:solidFill>
            <a:srgbClr val="E8F1F8"/>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7" name="TextBox 6"/>
          <p:cNvSpPr txBox="1"/>
          <p:nvPr/>
        </p:nvSpPr>
        <p:spPr>
          <a:xfrm>
            <a:off x="804671" y="1362456"/>
            <a:ext cx="4471416" cy="978408"/>
          </a:xfrm>
          <a:prstGeom prst="rect">
            <a:avLst/>
          </a:prstGeom>
          <a:noFill/>
        </p:spPr>
        <p:txBody>
          <a:bodyPr wrap="square" lIns="73152" rIns="73152">
            <a:spAutoFit/>
          </a:bodyPr>
          <a:lstStyle/>
          <a:p>
            <a:pPr>
              <a:defRPr sz="1700" b="1">
                <a:solidFill>
                  <a:srgbClr val="1E3750"/>
                </a:solidFill>
              </a:defRPr>
            </a:pPr>
            <a:r>
              <a:rPr sz="1700"/>
              <a:t>Business Purpose</a:t>
            </a:r>
          </a:p>
          <a:p>
            <a:pPr>
              <a:defRPr sz="1400">
                <a:solidFill>
                  <a:srgbClr val="262A2E"/>
                </a:solidFill>
              </a:defRPr>
            </a:pPr>
            <a:r>
              <a:rPr sz="1700"/>
              <a:t>Show client billing records and make outstanding balances easier to identify.</a:t>
            </a:r>
          </a:p>
        </p:txBody>
      </p:sp>
      <p:sp>
        <p:nvSpPr>
          <p:cNvPr id="8" name="TextBox 7"/>
          <p:cNvSpPr txBox="1"/>
          <p:nvPr/>
        </p:nvSpPr>
        <p:spPr>
          <a:xfrm>
            <a:off x="777240" y="2697480"/>
            <a:ext cx="4572000" cy="1423467"/>
          </a:xfrm>
          <a:prstGeom prst="rect">
            <a:avLst/>
          </a:prstGeom>
          <a:noFill/>
        </p:spPr>
        <p:txBody>
          <a:bodyPr wrap="square" lIns="73152" rIns="73152">
            <a:spAutoFit/>
          </a:bodyPr>
          <a:lstStyle/>
          <a:p>
            <a:pPr marL="285750" indent="-285750">
              <a:spcAft>
                <a:spcPts val="900"/>
              </a:spcAft>
              <a:buFont typeface="Arial" panose="020B0604020202020204" pitchFamily="34" charset="0"/>
              <a:buChar char="•"/>
              <a:defRPr sz="1800">
                <a:solidFill>
                  <a:srgbClr val="262A2E"/>
                </a:solidFill>
              </a:defRPr>
            </a:pPr>
            <a:r>
              <a:rPr sz="1600" dirty="0"/>
              <a:t>Lists billing ID, client, date, and amount.</a:t>
            </a:r>
          </a:p>
          <a:p>
            <a:pPr marL="285750" indent="-285750">
              <a:spcAft>
                <a:spcPts val="900"/>
              </a:spcAft>
              <a:buFont typeface="Arial" panose="020B0604020202020204" pitchFamily="34" charset="0"/>
              <a:buChar char="•"/>
              <a:defRPr sz="1800">
                <a:solidFill>
                  <a:srgbClr val="262A2E"/>
                </a:solidFill>
              </a:defRPr>
            </a:pPr>
            <a:r>
              <a:rPr sz="1600" dirty="0"/>
              <a:t>Displays whether the bill is Paid or Pending.</a:t>
            </a:r>
          </a:p>
          <a:p>
            <a:pPr marL="285750" indent="-285750">
              <a:spcAft>
                <a:spcPts val="900"/>
              </a:spcAft>
              <a:buFont typeface="Arial" panose="020B0604020202020204" pitchFamily="34" charset="0"/>
              <a:buChar char="•"/>
              <a:defRPr sz="1800">
                <a:solidFill>
                  <a:srgbClr val="262A2E"/>
                </a:solidFill>
              </a:defRPr>
            </a:pPr>
            <a:r>
              <a:rPr sz="1600" dirty="0"/>
              <a:t>Makes pending accounts easy to identify.</a:t>
            </a:r>
          </a:p>
          <a:p>
            <a:pPr marL="285750" indent="-285750">
              <a:spcAft>
                <a:spcPts val="900"/>
              </a:spcAft>
              <a:buFont typeface="Arial" panose="020B0604020202020204" pitchFamily="34" charset="0"/>
              <a:buChar char="•"/>
              <a:defRPr sz="1800">
                <a:solidFill>
                  <a:srgbClr val="262A2E"/>
                </a:solidFill>
              </a:defRPr>
            </a:pPr>
            <a:r>
              <a:rPr sz="1600" dirty="0"/>
              <a:t>Supports billing follow-up and record review.</a:t>
            </a:r>
          </a:p>
        </p:txBody>
      </p:sp>
      <p:sp>
        <p:nvSpPr>
          <p:cNvPr id="10" name="Rectangle 9"/>
          <p:cNvSpPr/>
          <p:nvPr/>
        </p:nvSpPr>
        <p:spPr>
          <a:xfrm>
            <a:off x="0" y="182880"/>
            <a:ext cx="109728" cy="6675120"/>
          </a:xfrm>
          <a:prstGeom prst="rect">
            <a:avLst/>
          </a:prstGeom>
          <a:solidFill>
            <a:srgbClr val="4389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903737F1-048F-4550-BF96-7F66D916B14C}"/>
              </a:ext>
            </a:extLst>
          </p:cNvPr>
          <p:cNvPicPr>
            <a:picLocks noChangeAspect="1"/>
          </p:cNvPicPr>
          <p:nvPr/>
        </p:nvPicPr>
        <p:blipFill>
          <a:blip r:embed="rId3"/>
          <a:stretch>
            <a:fillRect/>
          </a:stretch>
        </p:blipFill>
        <p:spPr>
          <a:xfrm>
            <a:off x="7305371" y="530351"/>
            <a:ext cx="3344538" cy="59801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E375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3" name="TextBox 2"/>
          <p:cNvSpPr txBox="1"/>
          <p:nvPr/>
        </p:nvSpPr>
        <p:spPr>
          <a:xfrm>
            <a:off x="594360" y="393192"/>
            <a:ext cx="10789920" cy="502920"/>
          </a:xfrm>
          <a:prstGeom prst="rect">
            <a:avLst/>
          </a:prstGeom>
          <a:noFill/>
        </p:spPr>
        <p:txBody>
          <a:bodyPr wrap="square" lIns="73152" rIns="73152">
            <a:spAutoFit/>
          </a:bodyPr>
          <a:lstStyle/>
          <a:p>
            <a:pPr>
              <a:defRPr sz="2700" b="1">
                <a:solidFill>
                  <a:srgbClr val="1E3750"/>
                </a:solidFill>
              </a:defRPr>
            </a:pPr>
            <a:r>
              <a:t>How the Reports Support the Business</a:t>
            </a:r>
          </a:p>
        </p:txBody>
      </p:sp>
      <p:sp>
        <p:nvSpPr>
          <p:cNvPr id="4" name="Rectangle 3"/>
          <p:cNvSpPr/>
          <p:nvPr/>
        </p:nvSpPr>
        <p:spPr>
          <a:xfrm>
            <a:off x="603504" y="969264"/>
            <a:ext cx="1097280" cy="36576"/>
          </a:xfrm>
          <a:prstGeom prst="rect">
            <a:avLst/>
          </a:prstGeom>
          <a:solidFill>
            <a:srgbClr val="B99752"/>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5" name="TextBox 4"/>
          <p:cNvSpPr txBox="1"/>
          <p:nvPr/>
        </p:nvSpPr>
        <p:spPr>
          <a:xfrm>
            <a:off x="10972800" y="6510528"/>
            <a:ext cx="457200" cy="182880"/>
          </a:xfrm>
          <a:prstGeom prst="rect">
            <a:avLst/>
          </a:prstGeom>
          <a:noFill/>
        </p:spPr>
        <p:txBody>
          <a:bodyPr wrap="square" lIns="73152" rIns="73152">
            <a:spAutoFit/>
          </a:bodyPr>
          <a:lstStyle/>
          <a:p>
            <a:pPr>
              <a:defRPr sz="900">
                <a:solidFill>
                  <a:srgbClr val="5F6973"/>
                </a:solidFill>
              </a:defRPr>
            </a:pPr>
            <a:r>
              <a:t>10</a:t>
            </a:r>
          </a:p>
        </p:txBody>
      </p:sp>
      <p:sp>
        <p:nvSpPr>
          <p:cNvPr id="6" name="Rounded Rectangle 5"/>
          <p:cNvSpPr/>
          <p:nvPr/>
        </p:nvSpPr>
        <p:spPr>
          <a:xfrm>
            <a:off x="685800" y="1325880"/>
            <a:ext cx="3474720" cy="2057400"/>
          </a:xfrm>
          <a:prstGeom prst="roundRect">
            <a:avLst/>
          </a:prstGeom>
          <a:solidFill>
            <a:srgbClr val="E8F4F2"/>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7" name="TextBox 6"/>
          <p:cNvSpPr txBox="1"/>
          <p:nvPr/>
        </p:nvSpPr>
        <p:spPr>
          <a:xfrm>
            <a:off x="850392" y="1453895"/>
            <a:ext cx="3145536" cy="1077218"/>
          </a:xfrm>
          <a:prstGeom prst="rect">
            <a:avLst/>
          </a:prstGeom>
          <a:noFill/>
        </p:spPr>
        <p:txBody>
          <a:bodyPr wrap="square" lIns="73152" tIns="45720" rIns="73152" bIns="45720" anchor="t">
            <a:spAutoFit/>
          </a:bodyPr>
          <a:lstStyle/>
          <a:p>
            <a:pPr>
              <a:defRPr sz="1700" b="1">
                <a:solidFill>
                  <a:srgbClr val="1E3750"/>
                </a:solidFill>
              </a:defRPr>
            </a:pPr>
            <a:r>
              <a:rPr lang="en-US" sz="1600"/>
              <a:t>Business Growth</a:t>
            </a:r>
            <a:endParaRPr lang="en-US" sz="1600">
              <a:ea typeface="Calibri"/>
              <a:cs typeface="Calibri"/>
            </a:endParaRPr>
          </a:p>
          <a:p>
            <a:pPr>
              <a:defRPr sz="1400">
                <a:solidFill>
                  <a:srgbClr val="262A2E"/>
                </a:solidFill>
              </a:defRPr>
            </a:pPr>
            <a:r>
              <a:rPr lang="en-US" sz="1600" dirty="0">
                <a:ea typeface="Calibri"/>
                <a:cs typeface="Calibri"/>
              </a:rPr>
              <a:t>Tracks new clients added over the past six months to measure </a:t>
            </a:r>
            <a:r>
              <a:rPr lang="en-US" sz="1600">
                <a:ea typeface="Calibri"/>
                <a:cs typeface="Calibri"/>
              </a:rPr>
              <a:t>company growth.</a:t>
            </a:r>
            <a:endParaRPr lang="en-US" sz="1600" dirty="0">
              <a:ea typeface="Calibri"/>
              <a:cs typeface="Calibri"/>
            </a:endParaRPr>
          </a:p>
        </p:txBody>
      </p:sp>
      <p:sp>
        <p:nvSpPr>
          <p:cNvPr id="8" name="Rounded Rectangle 7"/>
          <p:cNvSpPr/>
          <p:nvPr/>
        </p:nvSpPr>
        <p:spPr>
          <a:xfrm>
            <a:off x="4370832" y="1325880"/>
            <a:ext cx="3474720" cy="2057400"/>
          </a:xfrm>
          <a:prstGeom prst="roundRect">
            <a:avLst/>
          </a:prstGeom>
          <a:solidFill>
            <a:srgbClr val="E8F4F2"/>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9" name="TextBox 8"/>
          <p:cNvSpPr txBox="1"/>
          <p:nvPr/>
        </p:nvSpPr>
        <p:spPr>
          <a:xfrm>
            <a:off x="4535424" y="1453895"/>
            <a:ext cx="3145536" cy="1801368"/>
          </a:xfrm>
          <a:prstGeom prst="rect">
            <a:avLst/>
          </a:prstGeom>
          <a:noFill/>
        </p:spPr>
        <p:txBody>
          <a:bodyPr wrap="square" lIns="73152" rIns="73152">
            <a:spAutoFit/>
          </a:bodyPr>
          <a:lstStyle/>
          <a:p>
            <a:pPr>
              <a:defRPr sz="1700" b="1">
                <a:solidFill>
                  <a:srgbClr val="1E3750"/>
                </a:solidFill>
              </a:defRPr>
            </a:pPr>
            <a:r>
              <a:rPr sz="1600"/>
              <a:t>Asset Value Review</a:t>
            </a:r>
          </a:p>
          <a:p>
            <a:pPr>
              <a:defRPr sz="1400">
                <a:solidFill>
                  <a:srgbClr val="262A2E"/>
                </a:solidFill>
              </a:defRPr>
            </a:pPr>
            <a:r>
              <a:rPr sz="1600"/>
              <a:t>The average asset value report shows each client's total and the overall average to support portfolio review.</a:t>
            </a:r>
          </a:p>
        </p:txBody>
      </p:sp>
      <p:sp>
        <p:nvSpPr>
          <p:cNvPr id="10" name="Rounded Rectangle 9"/>
          <p:cNvSpPr/>
          <p:nvPr/>
        </p:nvSpPr>
        <p:spPr>
          <a:xfrm>
            <a:off x="8046720" y="1325880"/>
            <a:ext cx="3474720" cy="2057400"/>
          </a:xfrm>
          <a:prstGeom prst="roundRect">
            <a:avLst/>
          </a:prstGeom>
          <a:solidFill>
            <a:srgbClr val="E8F4F2"/>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11" name="TextBox 10"/>
          <p:cNvSpPr txBox="1"/>
          <p:nvPr/>
        </p:nvSpPr>
        <p:spPr>
          <a:xfrm>
            <a:off x="8211312" y="1453895"/>
            <a:ext cx="3145536" cy="1801368"/>
          </a:xfrm>
          <a:prstGeom prst="rect">
            <a:avLst/>
          </a:prstGeom>
          <a:noFill/>
        </p:spPr>
        <p:txBody>
          <a:bodyPr wrap="square" lIns="73152" rIns="73152">
            <a:spAutoFit/>
          </a:bodyPr>
          <a:lstStyle/>
          <a:p>
            <a:pPr>
              <a:defRPr sz="1700" b="1">
                <a:solidFill>
                  <a:srgbClr val="1E3750"/>
                </a:solidFill>
              </a:defRPr>
            </a:pPr>
            <a:r>
              <a:rPr sz="1600"/>
              <a:t>Transaction Monitoring</a:t>
            </a:r>
          </a:p>
          <a:p>
            <a:pPr>
              <a:defRPr sz="1400">
                <a:solidFill>
                  <a:srgbClr val="262A2E"/>
                </a:solidFill>
              </a:defRPr>
            </a:pPr>
            <a:r>
              <a:rPr sz="1600"/>
              <a:t>The high-transaction report flags clients with more than ten transactions a month for the billing-structure review.</a:t>
            </a:r>
          </a:p>
        </p:txBody>
      </p:sp>
      <p:sp>
        <p:nvSpPr>
          <p:cNvPr id="12" name="TextBox 11"/>
          <p:cNvSpPr txBox="1"/>
          <p:nvPr/>
        </p:nvSpPr>
        <p:spPr>
          <a:xfrm>
            <a:off x="1097280" y="4251960"/>
            <a:ext cx="9966960" cy="1005840"/>
          </a:xfrm>
          <a:prstGeom prst="rect">
            <a:avLst/>
          </a:prstGeom>
          <a:noFill/>
        </p:spPr>
        <p:txBody>
          <a:bodyPr wrap="square" lIns="73152" rIns="73152">
            <a:spAutoFit/>
          </a:bodyPr>
          <a:lstStyle/>
          <a:p>
            <a:pPr>
              <a:spcAft>
                <a:spcPts val="900"/>
              </a:spcAft>
              <a:defRPr sz="2100">
                <a:solidFill>
                  <a:srgbClr val="262A2E"/>
                </a:solidFill>
              </a:defRPr>
            </a:pPr>
            <a:r>
              <a:rPr sz="1600"/>
              <a:t>Together with the billing status report, these show how one relational database supports different areas of Willson Financial's daily operations.</a:t>
            </a:r>
          </a:p>
        </p:txBody>
      </p:sp>
      <p:sp>
        <p:nvSpPr>
          <p:cNvPr id="13" name="Rectangle 12"/>
          <p:cNvSpPr/>
          <p:nvPr/>
        </p:nvSpPr>
        <p:spPr>
          <a:xfrm>
            <a:off x="0" y="182880"/>
            <a:ext cx="109728" cy="6675120"/>
          </a:xfrm>
          <a:prstGeom prst="rect">
            <a:avLst/>
          </a:prstGeom>
          <a:solidFill>
            <a:srgbClr val="457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E375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3" name="TextBox 2"/>
          <p:cNvSpPr txBox="1"/>
          <p:nvPr/>
        </p:nvSpPr>
        <p:spPr>
          <a:xfrm>
            <a:off x="594360" y="393192"/>
            <a:ext cx="10789920" cy="502920"/>
          </a:xfrm>
          <a:prstGeom prst="rect">
            <a:avLst/>
          </a:prstGeom>
          <a:noFill/>
        </p:spPr>
        <p:txBody>
          <a:bodyPr wrap="square" lIns="73152" rIns="73152">
            <a:spAutoFit/>
          </a:bodyPr>
          <a:lstStyle/>
          <a:p>
            <a:pPr>
              <a:defRPr sz="2700" b="1">
                <a:solidFill>
                  <a:srgbClr val="1E3750"/>
                </a:solidFill>
              </a:defRPr>
            </a:pPr>
            <a:r>
              <a:t>Assumptions Used During Database Design</a:t>
            </a:r>
          </a:p>
        </p:txBody>
      </p:sp>
      <p:sp>
        <p:nvSpPr>
          <p:cNvPr id="4" name="Rectangle 3"/>
          <p:cNvSpPr/>
          <p:nvPr/>
        </p:nvSpPr>
        <p:spPr>
          <a:xfrm>
            <a:off x="603504" y="969264"/>
            <a:ext cx="1097280" cy="36576"/>
          </a:xfrm>
          <a:prstGeom prst="rect">
            <a:avLst/>
          </a:prstGeom>
          <a:solidFill>
            <a:srgbClr val="B99752"/>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5" name="TextBox 4"/>
          <p:cNvSpPr txBox="1"/>
          <p:nvPr/>
        </p:nvSpPr>
        <p:spPr>
          <a:xfrm>
            <a:off x="10972800" y="6510528"/>
            <a:ext cx="457200" cy="182880"/>
          </a:xfrm>
          <a:prstGeom prst="rect">
            <a:avLst/>
          </a:prstGeom>
          <a:noFill/>
        </p:spPr>
        <p:txBody>
          <a:bodyPr wrap="square" lIns="73152" rIns="73152">
            <a:spAutoFit/>
          </a:bodyPr>
          <a:lstStyle/>
          <a:p>
            <a:pPr>
              <a:defRPr sz="900">
                <a:solidFill>
                  <a:srgbClr val="5F6973"/>
                </a:solidFill>
              </a:defRPr>
            </a:pPr>
            <a:r>
              <a:t>11</a:t>
            </a:r>
          </a:p>
        </p:txBody>
      </p:sp>
      <p:sp>
        <p:nvSpPr>
          <p:cNvPr id="6" name="TextBox 5"/>
          <p:cNvSpPr txBox="1"/>
          <p:nvPr/>
        </p:nvSpPr>
        <p:spPr>
          <a:xfrm>
            <a:off x="822960" y="1234440"/>
            <a:ext cx="10332720" cy="5120640"/>
          </a:xfrm>
          <a:prstGeom prst="rect">
            <a:avLst/>
          </a:prstGeom>
          <a:noFill/>
        </p:spPr>
        <p:txBody>
          <a:bodyPr wrap="square" lIns="73152" rIns="73152">
            <a:spAutoFit/>
          </a:bodyPr>
          <a:lstStyle/>
          <a:p>
            <a:pPr>
              <a:spcAft>
                <a:spcPts val="900"/>
              </a:spcAft>
              <a:defRPr sz="1900">
                <a:solidFill>
                  <a:srgbClr val="262A2E"/>
                </a:solidFill>
              </a:defRPr>
            </a:pPr>
            <a:r>
              <a:rPr sz="1500"/>
              <a:t>Each client has one assigned employee at a time, but an employee can manage several clients.</a:t>
            </a:r>
          </a:p>
          <a:p>
            <a:pPr>
              <a:spcAft>
                <a:spcPts val="900"/>
              </a:spcAft>
              <a:defRPr sz="1900">
                <a:solidFill>
                  <a:srgbClr val="262A2E"/>
                </a:solidFill>
              </a:defRPr>
            </a:pPr>
            <a:r>
              <a:rPr sz="1500"/>
              <a:t>Clients may own multiple assets and have multiple financial transactions.</a:t>
            </a:r>
          </a:p>
          <a:p>
            <a:pPr>
              <a:spcAft>
                <a:spcPts val="900"/>
              </a:spcAft>
              <a:defRPr sz="1900">
                <a:solidFill>
                  <a:srgbClr val="262A2E"/>
                </a:solidFill>
              </a:defRPr>
            </a:pPr>
            <a:r>
              <a:rPr sz="1500"/>
              <a:t>A transaction does not always need an asset, but it can reference one when the transaction relates to a specific investment.</a:t>
            </a:r>
          </a:p>
          <a:p>
            <a:pPr>
              <a:spcAft>
                <a:spcPts val="900"/>
              </a:spcAft>
              <a:defRPr sz="1900">
                <a:solidFill>
                  <a:srgbClr val="262A2E"/>
                </a:solidFill>
              </a:defRPr>
            </a:pPr>
            <a:r>
              <a:rPr sz="1500"/>
              <a:t>Appointments are stored separately so meeting information does not have to be repeated in client or employee records.</a:t>
            </a:r>
          </a:p>
          <a:p>
            <a:pPr>
              <a:spcAft>
                <a:spcPts val="900"/>
              </a:spcAft>
              <a:defRPr sz="1900">
                <a:solidFill>
                  <a:srgbClr val="262A2E"/>
                </a:solidFill>
              </a:defRPr>
            </a:pPr>
            <a:r>
              <a:rPr sz="1500"/>
              <a:t>Billing records remain associated with the client and include a status such as Paid or Pending.</a:t>
            </a:r>
          </a:p>
          <a:p>
            <a:pPr>
              <a:spcAft>
                <a:spcPts val="900"/>
              </a:spcAft>
              <a:defRPr sz="1900">
                <a:solidFill>
                  <a:srgbClr val="262A2E"/>
                </a:solidFill>
              </a:defRPr>
            </a:pPr>
            <a:r>
              <a:rPr sz="1500"/>
              <a:t>Historical records are kept so previous transactions, appointments, assets, and bills can still be reviewed.</a:t>
            </a:r>
          </a:p>
        </p:txBody>
      </p:sp>
      <p:sp>
        <p:nvSpPr>
          <p:cNvPr id="7" name="Rectangle 6"/>
          <p:cNvSpPr/>
          <p:nvPr/>
        </p:nvSpPr>
        <p:spPr>
          <a:xfrm>
            <a:off x="0" y="182880"/>
            <a:ext cx="109728" cy="6675120"/>
          </a:xfrm>
          <a:prstGeom prst="rect">
            <a:avLst/>
          </a:prstGeom>
          <a:solidFill>
            <a:srgbClr val="C9A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E375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3" name="TextBox 2"/>
          <p:cNvSpPr txBox="1"/>
          <p:nvPr/>
        </p:nvSpPr>
        <p:spPr>
          <a:xfrm>
            <a:off x="594360" y="393192"/>
            <a:ext cx="10789920" cy="502920"/>
          </a:xfrm>
          <a:prstGeom prst="rect">
            <a:avLst/>
          </a:prstGeom>
          <a:noFill/>
        </p:spPr>
        <p:txBody>
          <a:bodyPr wrap="square" lIns="73152" rIns="73152">
            <a:spAutoFit/>
          </a:bodyPr>
          <a:lstStyle/>
          <a:p>
            <a:pPr>
              <a:defRPr sz="2700" b="1">
                <a:solidFill>
                  <a:srgbClr val="1E3750"/>
                </a:solidFill>
              </a:defRPr>
            </a:pPr>
            <a:r>
              <a:t>Database &amp; Reporting Implementation</a:t>
            </a:r>
          </a:p>
        </p:txBody>
      </p:sp>
      <p:sp>
        <p:nvSpPr>
          <p:cNvPr id="4" name="Rectangle 3"/>
          <p:cNvSpPr/>
          <p:nvPr/>
        </p:nvSpPr>
        <p:spPr>
          <a:xfrm>
            <a:off x="603504" y="969264"/>
            <a:ext cx="1097280" cy="36576"/>
          </a:xfrm>
          <a:prstGeom prst="rect">
            <a:avLst/>
          </a:prstGeom>
          <a:solidFill>
            <a:srgbClr val="B99752"/>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5" name="TextBox 4"/>
          <p:cNvSpPr txBox="1"/>
          <p:nvPr/>
        </p:nvSpPr>
        <p:spPr>
          <a:xfrm>
            <a:off x="10972800" y="6510528"/>
            <a:ext cx="457200" cy="182880"/>
          </a:xfrm>
          <a:prstGeom prst="rect">
            <a:avLst/>
          </a:prstGeom>
          <a:noFill/>
        </p:spPr>
        <p:txBody>
          <a:bodyPr wrap="square" lIns="73152" rIns="73152">
            <a:spAutoFit/>
          </a:bodyPr>
          <a:lstStyle/>
          <a:p>
            <a:pPr>
              <a:defRPr sz="900">
                <a:solidFill>
                  <a:srgbClr val="5F6973"/>
                </a:solidFill>
              </a:defRPr>
            </a:pPr>
            <a:r>
              <a:t>12</a:t>
            </a:r>
          </a:p>
        </p:txBody>
      </p:sp>
      <p:sp>
        <p:nvSpPr>
          <p:cNvPr id="6" name="Rounded Rectangle 5"/>
          <p:cNvSpPr/>
          <p:nvPr/>
        </p:nvSpPr>
        <p:spPr>
          <a:xfrm>
            <a:off x="777240" y="1417320"/>
            <a:ext cx="3337560" cy="1508760"/>
          </a:xfrm>
          <a:prstGeom prst="roundRect">
            <a:avLst/>
          </a:prstGeom>
          <a:solidFill>
            <a:srgbClr val="E8F1F8"/>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7" name="TextBox 6"/>
          <p:cNvSpPr txBox="1"/>
          <p:nvPr/>
        </p:nvSpPr>
        <p:spPr>
          <a:xfrm>
            <a:off x="941832" y="1545336"/>
            <a:ext cx="3008376" cy="1252728"/>
          </a:xfrm>
          <a:prstGeom prst="rect">
            <a:avLst/>
          </a:prstGeom>
          <a:noFill/>
        </p:spPr>
        <p:txBody>
          <a:bodyPr wrap="square" lIns="73152" rIns="73152">
            <a:spAutoFit/>
          </a:bodyPr>
          <a:lstStyle/>
          <a:p>
            <a:pPr>
              <a:defRPr sz="1700" b="1">
                <a:solidFill>
                  <a:srgbClr val="1E3750"/>
                </a:solidFill>
              </a:defRPr>
            </a:pPr>
            <a:r>
              <a:t>MySQL</a:t>
            </a:r>
          </a:p>
          <a:p>
            <a:pPr>
              <a:defRPr sz="1400">
                <a:solidFill>
                  <a:srgbClr val="262A2E"/>
                </a:solidFill>
              </a:defRPr>
            </a:pPr>
            <a:r>
              <a:t>Used to create and store the relational database tables and sample data.</a:t>
            </a:r>
          </a:p>
        </p:txBody>
      </p:sp>
      <p:sp>
        <p:nvSpPr>
          <p:cNvPr id="8" name="Rounded Rectangle 7"/>
          <p:cNvSpPr/>
          <p:nvPr/>
        </p:nvSpPr>
        <p:spPr>
          <a:xfrm>
            <a:off x="4434840" y="1417320"/>
            <a:ext cx="3337560" cy="1508760"/>
          </a:xfrm>
          <a:prstGeom prst="roundRect">
            <a:avLst/>
          </a:prstGeom>
          <a:solidFill>
            <a:srgbClr val="E8F1F8"/>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9" name="TextBox 8"/>
          <p:cNvSpPr txBox="1"/>
          <p:nvPr/>
        </p:nvSpPr>
        <p:spPr>
          <a:xfrm>
            <a:off x="4599431" y="1545336"/>
            <a:ext cx="3008376" cy="1252728"/>
          </a:xfrm>
          <a:prstGeom prst="rect">
            <a:avLst/>
          </a:prstGeom>
          <a:noFill/>
        </p:spPr>
        <p:txBody>
          <a:bodyPr wrap="square" lIns="73152" rIns="73152">
            <a:spAutoFit/>
          </a:bodyPr>
          <a:lstStyle/>
          <a:p>
            <a:pPr>
              <a:defRPr sz="1700" b="1">
                <a:solidFill>
                  <a:srgbClr val="1E3750"/>
                </a:solidFill>
              </a:defRPr>
            </a:pPr>
            <a:r>
              <a:t>SQL</a:t>
            </a:r>
          </a:p>
          <a:p>
            <a:pPr>
              <a:defRPr sz="1400">
                <a:solidFill>
                  <a:srgbClr val="262A2E"/>
                </a:solidFill>
              </a:defRPr>
            </a:pPr>
            <a:r>
              <a:t>Used to join related tables and create the queries behind the four reports.</a:t>
            </a:r>
          </a:p>
        </p:txBody>
      </p:sp>
      <p:sp>
        <p:nvSpPr>
          <p:cNvPr id="10" name="Rounded Rectangle 9"/>
          <p:cNvSpPr/>
          <p:nvPr/>
        </p:nvSpPr>
        <p:spPr>
          <a:xfrm>
            <a:off x="8092440" y="1417320"/>
            <a:ext cx="3337560" cy="1508760"/>
          </a:xfrm>
          <a:prstGeom prst="roundRect">
            <a:avLst/>
          </a:prstGeom>
          <a:solidFill>
            <a:srgbClr val="E8F1F8"/>
          </a:solidFill>
          <a:ln>
            <a:solidFill>
              <a:srgbClr val="D2D8D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11" name="TextBox 10"/>
          <p:cNvSpPr txBox="1"/>
          <p:nvPr/>
        </p:nvSpPr>
        <p:spPr>
          <a:xfrm>
            <a:off x="8257031" y="1545336"/>
            <a:ext cx="3008376" cy="1252728"/>
          </a:xfrm>
          <a:prstGeom prst="rect">
            <a:avLst/>
          </a:prstGeom>
          <a:noFill/>
        </p:spPr>
        <p:txBody>
          <a:bodyPr wrap="square" lIns="73152" rIns="73152">
            <a:spAutoFit/>
          </a:bodyPr>
          <a:lstStyle/>
          <a:p>
            <a:pPr>
              <a:defRPr sz="1700" b="1">
                <a:solidFill>
                  <a:srgbClr val="1E3750"/>
                </a:solidFill>
              </a:defRPr>
            </a:pPr>
            <a:r>
              <a:rPr sz="1600"/>
              <a:t>Python</a:t>
            </a:r>
          </a:p>
          <a:p>
            <a:pPr>
              <a:defRPr sz="1400">
                <a:solidFill>
                  <a:srgbClr val="262A2E"/>
                </a:solidFill>
              </a:defRPr>
            </a:pPr>
            <a:r>
              <a:rPr sz="1600"/>
              <a:t>Used to connect to the database, run the report queries, and display the results.</a:t>
            </a:r>
          </a:p>
        </p:txBody>
      </p:sp>
      <p:sp>
        <p:nvSpPr>
          <p:cNvPr id="12" name="TextBox 11"/>
          <p:cNvSpPr txBox="1"/>
          <p:nvPr/>
        </p:nvSpPr>
        <p:spPr>
          <a:xfrm>
            <a:off x="1005840" y="3794760"/>
            <a:ext cx="10058400" cy="1280160"/>
          </a:xfrm>
          <a:prstGeom prst="rect">
            <a:avLst/>
          </a:prstGeom>
          <a:noFill/>
        </p:spPr>
        <p:txBody>
          <a:bodyPr wrap="square" lIns="73152" rIns="73152">
            <a:spAutoFit/>
          </a:bodyPr>
          <a:lstStyle/>
          <a:p>
            <a:pPr>
              <a:spcAft>
                <a:spcPts val="900"/>
              </a:spcAft>
              <a:defRPr sz="2100">
                <a:solidFill>
                  <a:srgbClr val="262A2E"/>
                </a:solidFill>
              </a:defRPr>
            </a:pPr>
            <a:r>
              <a:rPr sz="1600"/>
              <a:t>This allowed our group to move from the ERD design to a working database and then use the stored information in actual report output.</a:t>
            </a:r>
          </a:p>
        </p:txBody>
      </p:sp>
      <p:sp>
        <p:nvSpPr>
          <p:cNvPr id="13" name="Rectangle 12"/>
          <p:cNvSpPr/>
          <p:nvPr/>
        </p:nvSpPr>
        <p:spPr>
          <a:xfrm>
            <a:off x="0" y="182880"/>
            <a:ext cx="109728" cy="6675120"/>
          </a:xfrm>
          <a:prstGeom prst="rect">
            <a:avLst/>
          </a:prstGeom>
          <a:solidFill>
            <a:srgbClr val="4389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E375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3" name="TextBox 2"/>
          <p:cNvSpPr txBox="1"/>
          <p:nvPr/>
        </p:nvSpPr>
        <p:spPr>
          <a:xfrm>
            <a:off x="594360" y="393192"/>
            <a:ext cx="10789920" cy="502920"/>
          </a:xfrm>
          <a:prstGeom prst="rect">
            <a:avLst/>
          </a:prstGeom>
          <a:noFill/>
        </p:spPr>
        <p:txBody>
          <a:bodyPr wrap="square" lIns="73152" rIns="73152">
            <a:spAutoFit/>
          </a:bodyPr>
          <a:lstStyle/>
          <a:p>
            <a:pPr>
              <a:defRPr sz="2700" b="1">
                <a:solidFill>
                  <a:srgbClr val="1E3750"/>
                </a:solidFill>
              </a:defRPr>
            </a:pPr>
            <a:r>
              <a:t>Project Summary</a:t>
            </a:r>
          </a:p>
        </p:txBody>
      </p:sp>
      <p:sp>
        <p:nvSpPr>
          <p:cNvPr id="4" name="Rectangle 3"/>
          <p:cNvSpPr/>
          <p:nvPr/>
        </p:nvSpPr>
        <p:spPr>
          <a:xfrm>
            <a:off x="603504" y="969264"/>
            <a:ext cx="1097280" cy="36576"/>
          </a:xfrm>
          <a:prstGeom prst="rect">
            <a:avLst/>
          </a:prstGeom>
          <a:solidFill>
            <a:srgbClr val="B99752"/>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5" name="TextBox 4"/>
          <p:cNvSpPr txBox="1"/>
          <p:nvPr/>
        </p:nvSpPr>
        <p:spPr>
          <a:xfrm>
            <a:off x="10972800" y="6510528"/>
            <a:ext cx="457200" cy="182880"/>
          </a:xfrm>
          <a:prstGeom prst="rect">
            <a:avLst/>
          </a:prstGeom>
          <a:noFill/>
        </p:spPr>
        <p:txBody>
          <a:bodyPr wrap="square" lIns="73152" rIns="73152">
            <a:spAutoFit/>
          </a:bodyPr>
          <a:lstStyle/>
          <a:p>
            <a:pPr>
              <a:defRPr sz="900">
                <a:solidFill>
                  <a:srgbClr val="5F6973"/>
                </a:solidFill>
              </a:defRPr>
            </a:pPr>
            <a:r>
              <a:t>13</a:t>
            </a:r>
          </a:p>
        </p:txBody>
      </p:sp>
      <p:sp>
        <p:nvSpPr>
          <p:cNvPr id="6" name="TextBox 5"/>
          <p:cNvSpPr txBox="1"/>
          <p:nvPr/>
        </p:nvSpPr>
        <p:spPr>
          <a:xfrm>
            <a:off x="822960" y="1325880"/>
            <a:ext cx="10241280" cy="2054409"/>
          </a:xfrm>
          <a:prstGeom prst="rect">
            <a:avLst/>
          </a:prstGeom>
          <a:noFill/>
        </p:spPr>
        <p:txBody>
          <a:bodyPr wrap="square" lIns="73152" tIns="45720" rIns="73152" bIns="45720" anchor="t">
            <a:spAutoFit/>
          </a:bodyPr>
          <a:lstStyle/>
          <a:p>
            <a:pPr>
              <a:spcAft>
                <a:spcPts val="900"/>
              </a:spcAft>
              <a:defRPr sz="2100">
                <a:solidFill>
                  <a:srgbClr val="262A2E"/>
                </a:solidFill>
              </a:defRPr>
            </a:pPr>
            <a:r>
              <a:rPr sz="1500" dirty="0"/>
              <a:t>Designed a relational database around Willson </a:t>
            </a:r>
            <a:r>
              <a:rPr lang="en-US" sz="1500"/>
              <a:t>Financial's</a:t>
            </a:r>
            <a:r>
              <a:rPr sz="1500" dirty="0"/>
              <a:t> main business information.</a:t>
            </a:r>
          </a:p>
          <a:p>
            <a:pPr>
              <a:spcAft>
                <a:spcPts val="900"/>
              </a:spcAft>
              <a:defRPr sz="2100">
                <a:solidFill>
                  <a:srgbClr val="262A2E"/>
                </a:solidFill>
              </a:defRPr>
            </a:pPr>
            <a:r>
              <a:rPr sz="1500"/>
              <a:t>Created relationships between employees, clients, assets, transactions, appointments, and billing.</a:t>
            </a:r>
          </a:p>
          <a:p>
            <a:pPr>
              <a:spcAft>
                <a:spcPts val="900"/>
              </a:spcAft>
              <a:defRPr sz="2100">
                <a:solidFill>
                  <a:srgbClr val="262A2E"/>
                </a:solidFill>
              </a:defRPr>
            </a:pPr>
            <a:r>
              <a:rPr sz="1500"/>
              <a:t>Used primary and foreign keys to keep related records connected.</a:t>
            </a:r>
          </a:p>
          <a:p>
            <a:pPr>
              <a:spcAft>
                <a:spcPts val="900"/>
              </a:spcAft>
              <a:defRPr sz="2100">
                <a:solidFill>
                  <a:srgbClr val="262A2E"/>
                </a:solidFill>
              </a:defRPr>
            </a:pPr>
            <a:r>
              <a:rPr sz="1500"/>
              <a:t>Built SQL queries for four useful business reports.</a:t>
            </a:r>
          </a:p>
          <a:p>
            <a:pPr>
              <a:spcAft>
                <a:spcPts val="900"/>
              </a:spcAft>
              <a:defRPr sz="2100">
                <a:solidFill>
                  <a:srgbClr val="262A2E"/>
                </a:solidFill>
              </a:defRPr>
            </a:pPr>
            <a:r>
              <a:rPr sz="1500"/>
              <a:t>Used Python and MySQL to run and display report results.</a:t>
            </a:r>
          </a:p>
          <a:p>
            <a:pPr>
              <a:spcAft>
                <a:spcPts val="900"/>
              </a:spcAft>
              <a:defRPr sz="2100">
                <a:solidFill>
                  <a:srgbClr val="262A2E"/>
                </a:solidFill>
              </a:defRPr>
            </a:pPr>
            <a:r>
              <a:rPr sz="1500"/>
              <a:t>Created a database foundation that can be expanded with additional reports or features in the future.</a:t>
            </a:r>
          </a:p>
        </p:txBody>
      </p:sp>
      <p:sp>
        <p:nvSpPr>
          <p:cNvPr id="7" name="Rectangle 6"/>
          <p:cNvSpPr/>
          <p:nvPr/>
        </p:nvSpPr>
        <p:spPr>
          <a:xfrm>
            <a:off x="0" y="182880"/>
            <a:ext cx="109728" cy="6675120"/>
          </a:xfrm>
          <a:prstGeom prst="rect">
            <a:avLst/>
          </a:prstGeom>
          <a:solidFill>
            <a:srgbClr val="457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1C3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01168"/>
            <a:ext cx="128016" cy="6656832"/>
          </a:xfrm>
          <a:prstGeom prst="rect">
            <a:avLst/>
          </a:prstGeom>
          <a:solidFill>
            <a:srgbClr val="4389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10789920" cy="640080"/>
          </a:xfrm>
          <a:prstGeom prst="rect">
            <a:avLst/>
          </a:prstGeom>
          <a:noFill/>
        </p:spPr>
        <p:txBody>
          <a:bodyPr wrap="none">
            <a:spAutoFit/>
          </a:bodyPr>
          <a:lstStyle/>
          <a:p>
            <a:pPr>
              <a:defRPr sz="3000" b="1">
                <a:solidFill>
                  <a:srgbClr val="1C3753"/>
                </a:solidFill>
              </a:defRPr>
            </a:pPr>
            <a:r>
              <a:t>Conclusion &amp; Project Outcome</a:t>
            </a:r>
          </a:p>
        </p:txBody>
      </p:sp>
      <p:sp>
        <p:nvSpPr>
          <p:cNvPr id="5" name="Rectangle 4"/>
          <p:cNvSpPr/>
          <p:nvPr/>
        </p:nvSpPr>
        <p:spPr>
          <a:xfrm>
            <a:off x="694944" y="1097280"/>
            <a:ext cx="1325880" cy="45720"/>
          </a:xfrm>
          <a:prstGeom prst="rect">
            <a:avLst/>
          </a:prstGeom>
          <a:solidFill>
            <a:srgbClr val="C9A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417320"/>
            <a:ext cx="3456432" cy="1828800"/>
          </a:xfrm>
          <a:prstGeom prst="roundRect">
            <a:avLst/>
          </a:prstGeom>
          <a:solidFill>
            <a:srgbClr val="E8F1F8"/>
          </a:solidFill>
          <a:ln>
            <a:solidFill>
              <a:srgbClr val="CDD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627632"/>
            <a:ext cx="3090672" cy="1417320"/>
          </a:xfrm>
          <a:prstGeom prst="rect">
            <a:avLst/>
          </a:prstGeom>
          <a:noFill/>
        </p:spPr>
        <p:txBody>
          <a:bodyPr wrap="square">
            <a:spAutoFit/>
          </a:bodyPr>
          <a:lstStyle/>
          <a:p>
            <a:pPr>
              <a:defRPr sz="1900" b="1">
                <a:solidFill>
                  <a:srgbClr val="1C3753"/>
                </a:solidFill>
              </a:defRPr>
            </a:pPr>
            <a:r>
              <a:t>Database Design</a:t>
            </a:r>
          </a:p>
          <a:p>
            <a:pPr>
              <a:spcBef>
                <a:spcPts val="600"/>
              </a:spcBef>
              <a:defRPr sz="1500">
                <a:solidFill>
                  <a:srgbClr val="282D32"/>
                </a:solidFill>
              </a:defRPr>
            </a:pPr>
            <a:r>
              <a:t>Designed a relational database connecting employees, clients, assets, transactions, appointments, and billing.</a:t>
            </a:r>
          </a:p>
        </p:txBody>
      </p:sp>
      <p:sp>
        <p:nvSpPr>
          <p:cNvPr id="8" name="Rounded Rectangle 7"/>
          <p:cNvSpPr/>
          <p:nvPr/>
        </p:nvSpPr>
        <p:spPr>
          <a:xfrm>
            <a:off x="4453128" y="1417320"/>
            <a:ext cx="3456432" cy="1828800"/>
          </a:xfrm>
          <a:prstGeom prst="roundRect">
            <a:avLst/>
          </a:prstGeom>
          <a:solidFill>
            <a:srgbClr val="E8F4F2"/>
          </a:solidFill>
          <a:ln>
            <a:solidFill>
              <a:srgbClr val="CDD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36008" y="1627632"/>
            <a:ext cx="3090672" cy="1417320"/>
          </a:xfrm>
          <a:prstGeom prst="rect">
            <a:avLst/>
          </a:prstGeom>
          <a:noFill/>
        </p:spPr>
        <p:txBody>
          <a:bodyPr wrap="square">
            <a:spAutoFit/>
          </a:bodyPr>
          <a:lstStyle/>
          <a:p>
            <a:pPr>
              <a:defRPr sz="1900" b="1">
                <a:solidFill>
                  <a:srgbClr val="1C3753"/>
                </a:solidFill>
              </a:defRPr>
            </a:pPr>
            <a:r>
              <a:t>Implementation</a:t>
            </a:r>
          </a:p>
          <a:p>
            <a:pPr>
              <a:spcBef>
                <a:spcPts val="600"/>
              </a:spcBef>
              <a:defRPr sz="1500">
                <a:solidFill>
                  <a:srgbClr val="282D32"/>
                </a:solidFill>
              </a:defRPr>
            </a:pPr>
            <a:r>
              <a:t>Built and tested the database in MySQL using primary and foreign keys to maintain organized relationships.</a:t>
            </a:r>
          </a:p>
        </p:txBody>
      </p:sp>
      <p:sp>
        <p:nvSpPr>
          <p:cNvPr id="10" name="Rounded Rectangle 9"/>
          <p:cNvSpPr/>
          <p:nvPr/>
        </p:nvSpPr>
        <p:spPr>
          <a:xfrm>
            <a:off x="8220456" y="1417320"/>
            <a:ext cx="3456432" cy="1828800"/>
          </a:xfrm>
          <a:prstGeom prst="roundRect">
            <a:avLst/>
          </a:prstGeom>
          <a:solidFill>
            <a:srgbClr val="FAF5E6"/>
          </a:solidFill>
          <a:ln>
            <a:solidFill>
              <a:srgbClr val="CDD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03336" y="1627632"/>
            <a:ext cx="3090672" cy="1417320"/>
          </a:xfrm>
          <a:prstGeom prst="rect">
            <a:avLst/>
          </a:prstGeom>
          <a:noFill/>
        </p:spPr>
        <p:txBody>
          <a:bodyPr wrap="square">
            <a:spAutoFit/>
          </a:bodyPr>
          <a:lstStyle/>
          <a:p>
            <a:pPr>
              <a:defRPr sz="1900" b="1">
                <a:solidFill>
                  <a:srgbClr val="1C3753"/>
                </a:solidFill>
              </a:defRPr>
            </a:pPr>
            <a:r>
              <a:t>Reports</a:t>
            </a:r>
          </a:p>
          <a:p>
            <a:pPr>
              <a:spcBef>
                <a:spcPts val="600"/>
              </a:spcBef>
              <a:defRPr sz="1500">
                <a:solidFill>
                  <a:srgbClr val="282D32"/>
                </a:solidFill>
              </a:defRPr>
            </a:pPr>
            <a:r>
              <a:t>Created SQL and Python reports for client growth, average asset value, high-transaction clients, and billing status.</a:t>
            </a:r>
          </a:p>
        </p:txBody>
      </p:sp>
      <p:sp>
        <p:nvSpPr>
          <p:cNvPr id="12" name="TextBox 11"/>
          <p:cNvSpPr txBox="1"/>
          <p:nvPr/>
        </p:nvSpPr>
        <p:spPr>
          <a:xfrm>
            <a:off x="868680" y="3794760"/>
            <a:ext cx="10287000" cy="1920240"/>
          </a:xfrm>
          <a:prstGeom prst="rect">
            <a:avLst/>
          </a:prstGeom>
          <a:noFill/>
        </p:spPr>
        <p:txBody>
          <a:bodyPr wrap="square">
            <a:spAutoFit/>
          </a:bodyPr>
          <a:lstStyle/>
          <a:p>
            <a:pPr>
              <a:defRPr sz="2100" b="1">
                <a:solidFill>
                  <a:srgbClr val="438987"/>
                </a:solidFill>
              </a:defRPr>
            </a:pPr>
            <a:r>
              <a:t>Final Outcome</a:t>
            </a:r>
          </a:p>
          <a:p>
            <a:pPr>
              <a:spcBef>
                <a:spcPts val="800"/>
              </a:spcBef>
              <a:defRPr sz="1800">
                <a:solidFill>
                  <a:srgbClr val="282D32"/>
                </a:solidFill>
              </a:defRPr>
            </a:pPr>
            <a:r>
              <a:t>As a team, we took the project from the initial database design to a working solution. The final database gives Willson Financial an organized way to manage client and business information, while the reports demonstrate how the stored data can support client growth, asset value review, transaction monitoring, billing follow-up, and future business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1733</Words>
  <Application>Microsoft Office PowerPoint</Application>
  <PresentationFormat>Widescreen</PresentationFormat>
  <Paragraphs>135</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Justin Bradley</dc:creator>
  <cp:keywords/>
  <dc:description>generated using python-pptx</dc:description>
  <cp:lastModifiedBy>Justin Bradley</cp:lastModifiedBy>
  <cp:revision>111</cp:revision>
  <dcterms:created xsi:type="dcterms:W3CDTF">2013-01-27T09:14:16Z</dcterms:created>
  <dcterms:modified xsi:type="dcterms:W3CDTF">2026-08-03T00:23:43Z</dcterms:modified>
  <cp:category/>
</cp:coreProperties>
</file>